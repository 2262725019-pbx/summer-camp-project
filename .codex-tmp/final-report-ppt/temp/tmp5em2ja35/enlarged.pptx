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7f8cdd6286e4ca7" Type="http://schemas.openxmlformats.org/package/2006/relationships/metadata/core-properties" Target="docProps/core.xml"/><Relationship Id="R6de6a3838bed4f6f" Type="http://schemas.openxmlformats.org/officeDocument/2006/relationships/officeDocument" Target="ppt/presentation.xml"/><Relationship Id="R6faaabcb3fc3406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f23dc34e243c5"/>
  </p:sldMasterIdLst>
  <p:notesMasterIdLst>
    <p:notesMasterId xmlns:r="http://schemas.openxmlformats.org/officeDocument/2006/relationships" r:id="R1c85da983fb14ab6"/>
  </p:notesMasterIdLst>
  <p:sldIdLst>
    <p:sldId xmlns:r="http://schemas.openxmlformats.org/officeDocument/2006/relationships" id="256" r:id="Ra016478c653344fa"/>
    <p:sldId xmlns:r="http://schemas.openxmlformats.org/officeDocument/2006/relationships" id="257" r:id="R7ac0d9cd6e9f425a"/>
    <p:sldId xmlns:r="http://schemas.openxmlformats.org/officeDocument/2006/relationships" id="258" r:id="R877edba83f9d4ce3"/>
    <p:sldId xmlns:r="http://schemas.openxmlformats.org/officeDocument/2006/relationships" id="259" r:id="R3920befd2f424346"/>
    <p:sldId xmlns:r="http://schemas.openxmlformats.org/officeDocument/2006/relationships" id="260" r:id="Recb8886147f74381"/>
    <p:sldId xmlns:r="http://schemas.openxmlformats.org/officeDocument/2006/relationships" id="261" r:id="Rf73891866a724c20"/>
    <p:sldId xmlns:r="http://schemas.openxmlformats.org/officeDocument/2006/relationships" id="262" r:id="Ra72c3a81f3a64552"/>
    <p:sldId xmlns:r="http://schemas.openxmlformats.org/officeDocument/2006/relationships" id="263" r:id="R3d0f08e7ed104d4d"/>
    <p:sldId xmlns:r="http://schemas.openxmlformats.org/officeDocument/2006/relationships" id="264" r:id="R6130d2026a4c46ed"/>
    <p:sldId xmlns:r="http://schemas.openxmlformats.org/officeDocument/2006/relationships" id="265" r:id="R82a1c935900a4986"/>
    <p:sldId xmlns:r="http://schemas.openxmlformats.org/officeDocument/2006/relationships" id="266" r:id="R6bf69d99f5f04479"/>
    <p:sldId xmlns:r="http://schemas.openxmlformats.org/officeDocument/2006/relationships" id="267" r:id="Ra33f6dde12114cdb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c85da983fb14ab6" Type="http://schemas.openxmlformats.org/officeDocument/2006/relationships/notesMaster" Target="notesMasters/notesMaster1.xml"/><Relationship Id="R3920befd2f424346" Type="http://schemas.openxmlformats.org/officeDocument/2006/relationships/slide" Target="slides/slide4.xml"/><Relationship Id="R3d0f08e7ed104d4d" Type="http://schemas.openxmlformats.org/officeDocument/2006/relationships/slide" Target="slides/slide8.xml"/><Relationship Id="R47cb00fe03dc4db9" Type="http://schemas.openxmlformats.org/officeDocument/2006/relationships/tableStyles" Target="tableStyles.xml"/><Relationship Id="R6130d2026a4c46ed" Type="http://schemas.openxmlformats.org/officeDocument/2006/relationships/slide" Target="slides/slide9.xml"/><Relationship Id="R6bf69d99f5f04479" Type="http://schemas.openxmlformats.org/officeDocument/2006/relationships/slide" Target="slides/slide11.xml"/><Relationship Id="R7ac0d9cd6e9f425a" Type="http://schemas.openxmlformats.org/officeDocument/2006/relationships/slide" Target="slides/slide2.xml"/><Relationship Id="R82a1c935900a4986" Type="http://schemas.openxmlformats.org/officeDocument/2006/relationships/slide" Target="slides/slide10.xml"/><Relationship Id="R877edba83f9d4ce3" Type="http://schemas.openxmlformats.org/officeDocument/2006/relationships/slide" Target="slides/slide3.xml"/><Relationship Id="Ra016478c653344fa" Type="http://schemas.openxmlformats.org/officeDocument/2006/relationships/slide" Target="slides/slide1.xml"/><Relationship Id="Ra33f6dde12114cdb" Type="http://schemas.openxmlformats.org/officeDocument/2006/relationships/slide" Target="slides/slide12.xml"/><Relationship Id="Ra7056b61e3fc4e16" Type="http://schemas.openxmlformats.org/officeDocument/2006/relationships/theme" Target="theme/theme1.xml"/><Relationship Id="Ra72c3a81f3a64552" Type="http://schemas.openxmlformats.org/officeDocument/2006/relationships/slide" Target="slides/slide7.xml"/><Relationship Id="Ra95458ca80784342" Type="http://schemas.openxmlformats.org/officeDocument/2006/relationships/presProps" Target="presProps.xml"/><Relationship Id="Rb8df23dc34e243c5" Type="http://schemas.openxmlformats.org/officeDocument/2006/relationships/slideMaster" Target="slideMasters/slideMaster1.xml"/><Relationship Id="Recb8886147f74381" Type="http://schemas.openxmlformats.org/officeDocument/2006/relationships/slide" Target="slides/slide5.xml"/><Relationship Id="Rf73891866a724c2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872e270930ed442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f338d505444438d" Type="http://schemas.openxmlformats.org/officeDocument/2006/relationships/slide" Target="../slides/slide1.xml"/><Relationship Id="R24b68b0c69ed446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44489f55c2c4f33" Type="http://schemas.openxmlformats.org/officeDocument/2006/relationships/slide" Target="../slides/slide2.xml"/><Relationship Id="R7555c94b144b4b5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7ba4832f8d24e54" Type="http://schemas.openxmlformats.org/officeDocument/2006/relationships/slide" Target="../slides/slide3.xml"/><Relationship Id="R16068199589c4b7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90e9485e0aa4b96" Type="http://schemas.openxmlformats.org/officeDocument/2006/relationships/slide" Target="../slides/slide4.xml"/><Relationship Id="R3c0d9b40c1ce400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e103a21977a24f65" Type="http://schemas.openxmlformats.org/officeDocument/2006/relationships/slide" Target="../slides/slide5.xml"/><Relationship Id="Reae0f2781ea9491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6db95c5ffb940b5" Type="http://schemas.openxmlformats.org/officeDocument/2006/relationships/slide" Target="../slides/slide6.xml"/><Relationship Id="Rd53717a2d112419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5a2b89f49cc4bb1" Type="http://schemas.openxmlformats.org/officeDocument/2006/relationships/notesMaster" Target="../notesMasters/notesMaster1.xml"/><Relationship Id="Rd6347997779e48b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7ddebdd53ff4c68" Type="http://schemas.openxmlformats.org/officeDocument/2006/relationships/slide" Target="../slides/slide8.xml"/><Relationship Id="Rebbc72ab2b584e27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a8db3f6dae443ea" Type="http://schemas.openxmlformats.org/officeDocument/2006/relationships/notesMaster" Target="../notesMasters/notesMaster1.xml"/><Relationship Id="R8d19bba3e13c48c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a2b1361f846453d" Type="http://schemas.openxmlformats.org/officeDocument/2006/relationships/slide" Target="../slides/slide10.xml"/><Relationship Id="R89e099f0e0a24af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4b0297277af451f" Type="http://schemas.openxmlformats.org/officeDocument/2006/relationships/slide" Target="../slides/slide11.xml"/><Relationship Id="R2f3127951b8e473a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08643f1b7d4425e" Type="http://schemas.openxmlformats.org/officeDocument/2006/relationships/slide" Target="../slides/slide12.xml"/><Relationship Id="Ra1a5bf1579b4488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开场先给出一句话定位：我们没有停留在问一句答一句，而是完成了一个能感知、能行动、能自主规划并交付结果的微信 AI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- Generated visual: multimodal-agent-hero.png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与普通聊天的差别：用户给的是目标，系统负责决定步骤、选择能力并形成最终成品。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- D:/ykdSummerText/src/main/java/com/summercamp/project/agent/AgentRouter.java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按能力而不是按日期流水账讲述：先打通微信，再补齐多模态与工具体系，最后升级成自主规划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- D:/ykdSummerText/src/main/java/com/summercamp/project/Application.java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这页只讲一次完整消息路径：微信消息先进入统一路由，再由 Intent、Skill、RAG、Tool 或 Agent 接管，最后调用外部服务并形成多种输出。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D:/ykdSummerText/src/main/java/com/summercamp/project/message/MessageProcessor.java</a:t>
            </a:r>
          </a:p>
          <a:p xmlns:a="http://schemas.openxmlformats.org/drawingml/2006/main">
            <a:r>
              <a:t>- D:/ykdSummerText/src/main/java/com/summercamp/project/llm/ZhipuAiClient.java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用三层归纳而不是逐条念功能：多模态解决输入输出，可信信息解决事实来源，行动与交付解决真正完成任务。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- D:/ykdSummerText/src/main/java/com/summercamp/project/message/MessageProcessor.java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Tool、Skill、RAG 不是三个同义词。Tool 做动作，Skill 承载流程，RAG 提供依据；统一路由让它们在同一条消息链路中协作。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D:/ykdSummerText/src/main/java/com/summercamp/project/tool/ToolRegistry.java</a:t>
            </a:r>
          </a:p>
          <a:p xmlns:a="http://schemas.openxmlformats.org/drawingml/2006/main">
            <a:r>
              <a:t>- D:/ykdSummerText/src/main/java/com/summercamp/project/skill/SkillRegistry.java</a:t>
            </a:r>
          </a:p>
          <a:p xmlns:a="http://schemas.openxmlformats.org/drawingml/2006/main">
            <a:r>
              <a:t>- D:/ykdSummerText/src/main/java/com/summercamp/project/rag/KeywordRagRetriever.java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重点讲依赖关系：RAG、天气和营养彼此独立，因此并行；训练、餐单、组装和评估依赖前一步，因此严格串行。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D:/ykdSummerText/src/main/java/com/summercamp/project/agent/planning/TaskPlanner.java</a:t>
            </a:r>
          </a:p>
          <a:p xmlns:a="http://schemas.openxmlformats.org/drawingml/2006/main">
            <a:r>
              <a:t>- D:/ykdSummerText/src/main/java/com/summercamp/project/agent/HealthPlanAgent.java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这页对应后期优化成果：不只追求功能跑通，还要控制响应时间、Token 消耗和故障影响范围。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D:/ykdSummerText/src/main/java/com/summercamp/project/agent/AgentPromptOptimizer.java</a:t>
            </a:r>
          </a:p>
          <a:p xmlns:a="http://schemas.openxmlformats.org/drawingml/2006/main">
            <a:r>
              <a:t>- D:/ykdSummerText/src/main/java/com/summercamp/project/agent/store/AgentStateDatabase.java</a:t>
            </a:r>
          </a:p>
          <a:p xmlns:a="http://schemas.openxmlformats.org/drawingml/2006/main">
            <a:r>
              <a:t>- D:/ykdSummerText/src/main/java/com/summercamp/project/weather/CachingWeatherClient.java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建议现场直接复制左侧话术。等待过程中可以发送“查看任务进度”，完成后扫描二维码展示结果页面。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- D:/ykdSummerText/src/main/java/com/summercamp/project/agent/HealthPlanAgent.java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用数字证明项目不是演示脚本：154 个测试覆盖路由、工具、Skill、天气、语音、结果页、并行调度和 SQLite 上下文启动。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Maven verify output, 2026-08-30</a:t>
            </a:r>
          </a:p>
          <a:p xmlns:a="http://schemas.openxmlformats.org/drawingml/2006/main">
            <a:r>
              <a:t>- D:/ykdSummerText/src/test/java</a:t>
            </a:r>
          </a:p>
          <a:p xmlns:a="http://schemas.openxmlformats.org/drawingml/2006/main">
            <a:r>
              <a:t>- D:/ykdSummerText/src/main/java/com/summercamp/project/llm/ZhipuAiClient.java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这一页强调真实工程经验：最难的不是写一个算法，而是让微信、模型、天气、语音和团队代码在同一套边界内稳定工作。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- D:/ykdSummerText/src/main/java/com/summercamp/project/wechat/ILinkWechatGateway.java</a:t>
            </a:r>
          </a:p>
          <a:p xmlns:a="http://schemas.openxmlformats.org/drawingml/2006/main">
            <a:r>
              <a:t>- D:/ykdSummerText/src/main/java/com/summercamp/project/speech/WechatAudioConverter.java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收尾回到开场：项目的核心成果不是功能数量，而是把多种能力组织成了一个能自主完成复杂任务、并且可以稳定恢复的系统。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D:/ykdSummerText/README.md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1a55912bdee411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f23b445b3294aaa" Type="http://schemas.openxmlformats.org/officeDocument/2006/relationships/slideLayout" Target="../slideLayouts/slideLayout1.xml"/><Relationship Id="R4ccb7ad51213401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23b445b3294a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4cc84008812484f" Type="http://schemas.openxmlformats.org/officeDocument/2006/relationships/slideLayout" Target="../slideLayouts/slideLayout1.xml"/><Relationship Id="R75176b13e6f7465b" Type="http://schemas.openxmlformats.org/officeDocument/2006/relationships/image" Target="../media/image.png"/><Relationship Id="Rcdce64df148a426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1c9d1d33ce54077" Type="http://schemas.openxmlformats.org/officeDocument/2006/relationships/notesSlide" Target="../notesSlides/notesSlide2.xml"/><Relationship Id="R34e92d6fa77445e7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6d916bcea994a98" Type="http://schemas.openxmlformats.org/officeDocument/2006/relationships/notesSlide" Target="../notesSlides/notesSlide3.xml"/><Relationship Id="Re738acfbb18747b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462138c8a9f4fd7" Type="http://schemas.openxmlformats.org/officeDocument/2006/relationships/notesSlide" Target="../notesSlides/notesSlide4.xml"/><Relationship Id="Rd835255ebffb4f3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b0232e98c83b4253" Type="http://schemas.openxmlformats.org/officeDocument/2006/relationships/slideLayout" Target="../slideLayouts/slideLayout1.xml"/><Relationship Id="Rdc5745671d3b4b4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e9daa5dda9b24b19" Type="http://schemas.openxmlformats.org/officeDocument/2006/relationships/slideLayout" Target="../slideLayouts/slideLayout1.xml"/><Relationship Id="Rfa8d0c0414bb44b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02344bf7d364724" Type="http://schemas.openxmlformats.org/officeDocument/2006/relationships/slideLayout" Target="../slideLayouts/slideLayout1.xml"/><Relationship Id="R4333ccc548b9479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2522b5e6cee4acd" Type="http://schemas.openxmlformats.org/officeDocument/2006/relationships/notesSlide" Target="../notesSlides/notesSlide8.xml"/><Relationship Id="Rd9acd650bf0c4e2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e9dd1b6b72144a8" Type="http://schemas.openxmlformats.org/officeDocument/2006/relationships/notesSlide" Target="../notesSlides/notesSlide9.xml"/><Relationship Id="R91028b80c3f74cc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de806c3cd8b4f42" Type="http://schemas.openxmlformats.org/officeDocument/2006/relationships/notesSlide" Target="../notesSlides/notesSlide10.xml"/><Relationship Id="Rf72855fc44fb4ab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db9d4c65f624586" Type="http://schemas.openxmlformats.org/officeDocument/2006/relationships/notesSlide" Target="../notesSlides/notesSlide11.xml"/><Relationship Id="R766efb0899aa4c36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c3d105c34fd4349" Type="http://schemas.openxmlformats.org/officeDocument/2006/relationships/slideLayout" Target="../slideLayouts/slideLayout1.xml"/><Relationship Id="Rf0be9319575b48b0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40628-979C-423F-9685-D2DB8D16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81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夏令营项目最终成果汇报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9DA26-3560-4B52-8271-C6C7159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微信多模态</a:t>
            </a:r>
          </a:p>
          <a:p xmlns:a="http://schemas.openxmlformats.org/drawingml/2006/main"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CDDF1-BD72-4716-B110-65EB92BA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253D"/>
                </a:solidFill>
              </a:defRPr>
            </a:pPr>
            <a:r>
              <a:rPr sz="2100" b="0">
                <a:solidFill>
                  <a:srgbClr val="14253D"/>
                </a:solidFill>
              </a:rPr>
              <a:t>从消息收发到自主规划的完整闭环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2E44-599C-445C-8DA2-7480670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9B1BF-8612-45A8-8D88-9EB353C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Java 21 · Spring Boot · iLink · 智谱 · 高德 · SQLite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CE69E-EC5E-4A6D-BFB2-7BF4FDE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198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项目组：__________    汇报人：__________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55F1C-0DE4-4454-802F-0E56D00B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81100"/>
            <a:ext cx="5372100" cy="55435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76b13e6f7465b"/>
          <a:srcRect xmlns:a="http://schemas.openxmlformats.org/drawingml/2006/main" l="0" t="8709" r="0" b="8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181100"/>
            <a:ext cx="5372100" cy="5543550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7E4E8-22ED-49FC-BB4B-31118F7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5375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6512F-32D5-41DC-844D-05DDA99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6B7AD-D6A7-490D-A39B-95E24BA8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我们解决的不是一次问答，而是一整套任务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F67D6-5ECA-405F-A934-0CD1CF70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EFC9D-7FB3-444A-9FED-380084BD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8400"/>
            <a:ext cx="485775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A4FED-D1E4-448C-8092-ED50F3F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14625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用户只说最终目标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D1921-FAAB-47B5-844F-8E58461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53D"/>
                </a:solidFill>
              </a:defRPr>
            </a:pPr>
            <a:r>
              <a:rPr sz="2250" b="1">
                <a:solidFill>
                  <a:srgbClr val="14253D"/>
                </a:solidFill>
              </a:rPr>
              <a:t>“帮我制定未来 7 天的完整健康生活方案，结合天气、饮食和训练，最后生成结果页面与二维码。”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853DE-8C08-4D97-B45C-92A99C19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721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7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</a:defRPr>
            </a:pPr>
            <a:r>
              <a:rPr sz="1500" b="0">
                <a:solidFill>
                  <a:srgbClr val="60656F"/>
                </a:solidFill>
              </a:rPr>
              <a:t>不提供步骤，不指定工具，不要求用户反复追问。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54106-8762-4720-B38A-6D66DE23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290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4AC27-3881-4E0C-8191-04D1E87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EE865-B17E-4EE1-8C64-6E7D8A31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774DE-5CB7-4EC6-A51E-3D6B7273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提取目标与约束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5B8E3-67BA-4620-BC83-D6CD38F2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45E3E-ED50-4C82-A9FA-1381506D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451A2-387C-4209-8225-061E90B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2CE5B-9733-4C9C-8A9C-5B37E390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拆解依赖与并行步骤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2340D-CD0D-4404-8C62-D0D5769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1B27B-8F69-484B-B1B6-51B9D14F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529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E27F5-88C7-4B53-8B1C-33991E7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0BD0F-D738-4213-878F-C160F93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协作天气、RAG、Skill、Tool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0C9B0-C4B9-459A-90AE-8D588E1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2408F-5F79-440B-AA33-E02EB285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5816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B8E33-0201-485D-83C0-77679FA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673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F345C-41E1-47E3-B36B-4B93B374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86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七日计划、页面与二维码</a:t>
            </a:r>
          </a:p>
        </p:txBody>
      </p:sp>
    </p:spTree>
    <p:extLst>
      <p:ext uri="{BB962C8B-B14F-4D97-AF65-F5344CB8AC3E}">
        <p14:creationId xmlns:p14="http://schemas.microsoft.com/office/powerpoint/2010/main" val="1451896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33302-0D17-45EF-BA6F-B02ECDC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2028D-D694-499B-9742-0535F7A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两周迭代让项目完成三次能力跃迁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275F8-1055-42AD-B58F-0F6EC248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1DDF-3BE8-49BB-A745-F6C4E2F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2DB8B-1792-4C60-A54F-3963F3F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69A3A-5281-4B8F-9CDE-2B513D2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第一阶段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0BF03-A2D7-4FB5-B8EA-E9C493B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Bot 能用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C07E-B2AD-496F-BBE4-AB19EAE2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Spring Boot 项目骨架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微信二维码登录与长轮询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SLF4J / Logback /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1DACB-88DD-407E-8CCB-F181E8BE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EDA60-A570-4A83-A2B2-7C707355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第二阶段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242C8-B58C-4DC9-90F2-AA53787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Bot 能感知与行动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0AFA7-EE9E-4636-BF8B-5BD835C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196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文字、图片、语音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天气与 Function Calling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Tool、Skill、RAG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99762-33EF-4911-9C55-0E030FBF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DBA10-ED8B-47F8-95E5-3EFE287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C78A"/>
                </a:solidFill>
              </a:defRPr>
            </a:pPr>
            <a:r>
              <a:rPr sz="1275" b="1">
                <a:solidFill>
                  <a:srgbClr val="25C78A"/>
                </a:solidFill>
              </a:rPr>
              <a:t>第三阶段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0F217-2BFA-450A-A947-141B1C83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Bot 能自主完成任务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A8D75-827A-4C07-90CF-1A570D84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96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12 步健康规划 Agent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并行、缓存、Prompt 压缩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SQLite 续跑与每日提醒</a:t>
            </a:r>
          </a:p>
        </p:txBody>
      </p:sp>
    </p:spTree>
    <p:extLst>
      <p:ext uri="{BB962C8B-B14F-4D97-AF65-F5344CB8AC3E}">
        <p14:creationId xmlns:p14="http://schemas.microsoft.com/office/powerpoint/2010/main" val="1937168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DF205-2495-4632-A85B-A9D5913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B5E45-CA1E-47D6-8630-C84854D4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统一消息路由把多种能力组织成一条链路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74CE7-447F-4D26-9599-A82F7850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ED2BB-CF3A-4110-95A7-D9A19A4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4812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54DA5-363C-4F95-AD40-D54F5A7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4812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72A64-FF44-44CE-83CA-32C3D0AF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4812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E39E3-74A8-4115-B37D-10C6BA7A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1952625" cy="34480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A124E-11F6-4C28-B178-660FE0AB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57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微信输入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E585A-5499-4FDA-93A6-763282C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43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文字 + 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ACE7F-AA1F-4335-BBBA-74950BF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图片 + 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05D90-5D76-4486-9317-F487954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语音 + 转写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61FD3-D212-4C8C-AFBE-7FBAB66D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命令 / 媒体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0D020-1B54-4502-BBEC-A87F5365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2247900" cy="25717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1A83C-7960-4163-850C-CA6AB7B8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38137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07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MessageProcessor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7BC96-965D-4D3F-AA05-4A54A0B6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52875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B68E3-B037-4C0B-85EB-7A844171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91000"/>
            <a:ext cx="1771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去重 · 限制检查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命令优先 · 意图识别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待处理状态 · 统一回复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5FFD5-70F1-4916-8C25-7ECD80EB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2571750" cy="3733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D6C67-5C15-4731-8ABE-D25F5732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智能编排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A8573-1E3F-4C87-9089-DFD2271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385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7A67F-B6B3-46BE-A7CB-2D582E4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6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本地规则 + 模型兜底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29571-FF84-40A8-8083-154A3DF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Skill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3AFE9-9E09-42AD-B678-B2DE100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71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明确业务流程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FEBD6-9524-436A-891F-33BDFE4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56718-7D42-4123-B650-E6D4B42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可信知识增强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42C4F-7C2A-4F3E-BFB5-0CE12C93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387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5519F-1A83-422C-9910-C44BF35A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38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白名单原子动作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8CF745-9C55-42B6-A1A8-99D52C1E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721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7AEAE-472B-4F8B-9E2B-B1C030E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7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规划、执行、评估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087F7-FBF5-4C9B-9641-B5675777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2628900" cy="3448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A4B1A9-C23E-487F-9BD5-26B159D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服务与输出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53D4C-D3BC-4970-97EA-2CC046FD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48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智谱：聊天 / 视觉 / 绘图 / ASR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627435-CAFD-4539-8653-7E1AB596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高德：行政区与天气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DE1AFB-2EEA-4C5A-9BE3-017CDC43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62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Edge TTS：免费语音合成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45E647-694F-4044-BCEE-05C28A9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19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SQLite：状态与提醒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13D1B-7A2D-4D98-9AE9-1E215696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76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92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文本 / 图片 / 音频 / 页面 / 二维码</a:t>
            </a:r>
          </a:p>
        </p:txBody>
      </p:sp>
    </p:spTree>
    <p:extLst>
      <p:ext uri="{BB962C8B-B14F-4D97-AF65-F5344CB8AC3E}">
        <p14:creationId xmlns:p14="http://schemas.microsoft.com/office/powerpoint/2010/main" val="339510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B0EF0-4F00-4A7A-8A3D-053198A9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2DFD7-8224-41C0-A8D9-DB33702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三层能力让机器人既能理解，也能执行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14246-EBA0-433C-89AE-5CC290CD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D455C-70A0-41F6-AE1C-2F5EA1BD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003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DD6D4-B6B9-4135-BF73-E8597B4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9F308-A000-4A42-90FB-4FD62C5E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60FB8-94D3-42E5-93CE-6DDBC3A1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86125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多模态交互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E4B30-8DF4-453D-A3F0-25D38C1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AB6D5-D21B-4BD9-ACB6-27ACA63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43375"/>
            <a:ext cx="26098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连续文字对话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图片识别与生成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语音识别与 MP3 回复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超限与异常媒体提示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0C9C7-B178-4260-8E5A-F0890850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5F700-2982-4445-B2F3-B7DC19F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3DF36-FB31-475E-AF88-716CDFA0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812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B4256-620B-4C84-81A6-C0E873EE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可信信息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91F9F-05D8-4D38-A203-457F8E93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B72D2-CD6C-41FC-A1C3-F6EAA03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43375"/>
            <a:ext cx="26098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高德实时与三日天气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项目 FAQ 与校园知识 RAG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每用户独立上下文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固定模板避免事实编造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CB7ED-A323-45DA-AEBE-8995C527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F4695-E0F0-4401-9A0C-4624749B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A46BC-72B0-456B-A28C-C622635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812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D7489-4390-4C24-BB4A-E8CC3B7F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86125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行动与交付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FCFC9-80C3-42A3-BDD3-01AFD5FA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546D0-E3E8-4C24-B42D-6B659F6B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43375"/>
            <a:ext cx="26098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10 个本地工具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5 个可注册 Skill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串行 / 并行多工具</a:t>
            </a:r>
          </a:p>
          <a:p xmlns:a="http://schemas.openxmlformats.org/drawingml/2006/main"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结果页面与真实二维码</a:t>
            </a:r>
          </a:p>
        </p:txBody>
      </p:sp>
    </p:spTree>
    <p:extLst>
      <p:ext uri="{BB962C8B-B14F-4D97-AF65-F5344CB8AC3E}">
        <p14:creationId xmlns:p14="http://schemas.microsoft.com/office/powerpoint/2010/main" val="580132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1" name="Rectangle 3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EA2C2-690F-484C-BBCD-1583C79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A9C78-F159-48DE-9502-AD5AB3CD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Tool、Skill、RAG 分工明确，组合后更智能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5052E-88A4-4345-99DC-64A601F0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1835C-2372-42DC-BD1A-79168B27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用户消息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D3FD1-944D-43D7-AEEA-E126CE29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48952-F70D-4BEE-B094-3D163DF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71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统一路由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63FB4-A11B-4B96-AECE-AE647E7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289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E410B-F013-4F3F-89DB-F0B3428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按意图选择最短、最可靠的执行路径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53012-30DD-4292-B2B5-A60CC74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54F6D-64DF-4628-97D7-D5E5E84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19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0DB53-6A48-4501-BFA5-0406028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0656F"/>
                </a:solidFill>
              </a:defRPr>
            </a:pPr>
            <a:r>
              <a:rPr sz="1350" b="1">
                <a:solidFill>
                  <a:srgbClr val="60656F"/>
                </a:solidFill>
              </a:rPr>
              <a:t>原子动作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933B8-2E7F-411A-8EE4-5BAD1015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00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FFE89-84F1-4958-9347-429A0672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计算、天气、时间、待办、图片、二维码、结果页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由模型通过 JSON Schema 选择，本地白名单校验后执行。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788ED-45D1-4206-A5D8-663F232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721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例：计算 125×36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66368-0670-4F6E-BE8C-A13D9302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718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DD806-48AD-4C00-9D47-A630D5E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C78A"/>
                </a:solidFill>
              </a:defRPr>
            </a:pPr>
            <a:r>
              <a:rPr sz="2550" b="1">
                <a:solidFill>
                  <a:srgbClr val="25C78A"/>
                </a:solidFill>
              </a:rPr>
              <a:t>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4370F-AF7B-4E43-BA35-93E080A2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0656F"/>
                </a:solidFill>
              </a:defRPr>
            </a:pPr>
            <a:r>
              <a:rPr sz="1350" b="1">
                <a:solidFill>
                  <a:srgbClr val="60656F"/>
                </a:solidFill>
              </a:rPr>
              <a:t>可复用业务流程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CB66E-2BB5-4811-8F59-9075DC99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100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DB555-21B3-436F-828C-09B4D28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3865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增肌饮食、运动健康、冷笑话、快速计算、JSON 格式化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明确关键词优先命中，减少无效模型调用。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F9EA8-4AC6-45FE-9383-7FBDB95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721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C78A"/>
                </a:solidFill>
              </a:defRPr>
            </a:pPr>
            <a:r>
              <a:rPr sz="1275" b="1">
                <a:solidFill>
                  <a:srgbClr val="25C78A"/>
                </a:solidFill>
              </a:rPr>
              <a:t>例：制定增肌饮食计划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BD09E-1AF9-42A7-A0D9-896A4FA1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6998D-7022-43BA-8A93-7558C11E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CBF4"/>
                </a:solidFill>
              </a:defRPr>
            </a:pPr>
            <a:r>
              <a:rPr sz="2550" b="1">
                <a:solidFill>
                  <a:srgbClr val="6DCBF4"/>
                </a:solidFill>
              </a:rPr>
              <a:t>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A652B-7215-4585-A8DA-EDC510E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43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0656F"/>
                </a:solidFill>
              </a:defRPr>
            </a:pPr>
            <a:r>
              <a:rPr sz="1350" b="1">
                <a:solidFill>
                  <a:srgbClr val="60656F"/>
                </a:solidFill>
              </a:rPr>
              <a:t>可信知识上下文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5B0F2-EBEF-491F-BF3C-FF653C1A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100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DCBA0-56D9-4B3F-A90B-B16B974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项目 FAQ、技术资料、健康知识、河南师范大学资料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先检索最相关内容，再增强 Prompt。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AD898-5737-45AD-AD5B-3C7A35AA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721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例：API Key 在哪里配置</a:t>
            </a:r>
          </a:p>
        </p:txBody>
      </p:sp>
    </p:spTree>
    <p:extLst>
      <p:ext uri="{BB962C8B-B14F-4D97-AF65-F5344CB8AC3E}">
        <p14:creationId xmlns:p14="http://schemas.microsoft.com/office/powerpoint/2010/main" val="683140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EAB73-CE7A-44D0-B527-9F7113D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9972F-548C-49DD-8C15-FD6F2D13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一个最终目标会被自动拆成 12 个可追踪步骤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83C6-CC57-45DC-B29D-F02DD6D9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9317D-4014-43D4-890C-3C83DAE2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862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030CB-40B1-48D4-A4B1-3DE80A96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F467C-8761-405C-9905-135B27F7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2552700" cy="33337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EF742-7116-4315-9CCF-B6F53C0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480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理解目标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167A3-136D-47A2-BFF0-6CC1B02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2019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01 解析自然语言</a:t>
            </a:r>
          </a:p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02 校验完整性与安全边界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9C2CE-D21C-49DB-BF77-2F500D6D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3238500" cy="3333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6A1CD-DBAC-4220-AA2B-1DCA8B36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并行获取依据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25D86-1960-421F-98F5-919C701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0000"/>
            <a:ext cx="270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03 检索健康 RAG</a:t>
            </a:r>
          </a:p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04 查询三日天气</a:t>
            </a:r>
          </a:p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05 计算营养目标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F2221-39BD-47B1-A375-012924D9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4838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5617A-F253-405B-B7AD-978B68D9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串行生成与交付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F2712-E6A5-4B17-9D27-BE30981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4305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06 生成运动方案   07 生成餐单</a:t>
            </a:r>
          </a:p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08 组装七日计划   09 完整性评估</a:t>
            </a:r>
          </a:p>
          <a:p xmlns:a="http://schemas.openxmlformats.org/drawingml/2006/main"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10 可选封面   11 结果页面   12 二维码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6A863-5352-46B0-A2B0-A7E1B914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独立步骤并行，依赖步骤串行；每一步都有状态、重试次数和可复用输出。</a:t>
            </a:r>
          </a:p>
        </p:txBody>
      </p:sp>
    </p:spTree>
    <p:extLst>
      <p:ext uri="{BB962C8B-B14F-4D97-AF65-F5344CB8AC3E}">
        <p14:creationId xmlns:p14="http://schemas.microsoft.com/office/powerpoint/2010/main" val="522386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1" name="Rectangle 3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6C842-E63E-4E57-8323-C3A8059A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77C30-DCFC-45FD-8BC0-3B5871A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速度、成本和稳定性被纳入同一套设计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CB0B7-3984-406D-A68A-B308E2A5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1B62-6E36-491B-928F-1BF3CAD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50C85-D30D-40FB-BAC9-9456AC2E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78109-5B3D-4577-9D05-E7ECAC7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71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并行执行 + 短期缓存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412E7-953D-4741-90C3-A85F70A2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813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天气、RAG、营养并行；相同天气与检索结果按 TTL 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4E650-55BE-4C16-89AC-09D965B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575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E721C-FBF7-4325-B6A5-CCCA776D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20AD8-D70A-4138-B6F8-F411527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679B7-2746-4FAA-8367-DDCA428E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19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本地规则 + Prompt 压缩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9047B-9BB2-458C-AD6D-28217B5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290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确定意图、身体资料和固定模板不重复消耗模型 Token。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AFA9D-F77F-4A53-B43F-3398F438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053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FC8A9-E7CA-46B3-94DE-7F72808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4554C-D0C4-499D-A373-38F1B0DB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72B56-80B6-4A4B-8642-32DFB89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67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重试、备用模型与降级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67678-A150-4694-A5FC-30A1C5B8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768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聊天与视觉模型自动回退；天气、TTS、封面失败不阻断主流程。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456B1-63C4-45DE-A054-A64292FC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53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BD6D7-0C6C-4022-A75F-F073E743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A6A49-03B7-4389-B305-0468C40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FDCFC-1A5E-4BD2-85D9-0D0EF9BE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15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SQLite 断点与提醒持久化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E18EF-390A-44AD-BC33-C05A3CE1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24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成功步骤保存；重启后可继续任务并恢复每日健康提醒。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245EF-DDAE-4AEC-93AB-275542B4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6008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C6161-A69E-40AB-99F1-45D5F866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2190750" cy="35623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5B4F1-39D1-4ED2-9330-7A07CBA1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D1B0B-05E0-4899-AE5F-04CF1CA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86150"/>
            <a:ext cx="171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更少等待</a:t>
            </a:r>
          </a:p>
          <a:p xmlns:a="http://schemas.openxmlformats.org/drawingml/2006/main"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更少重复调用</a:t>
            </a:r>
          </a:p>
          <a:p xmlns:a="http://schemas.openxmlformats.org/drawingml/2006/main"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外部服务失败可降级</a:t>
            </a:r>
          </a:p>
          <a:p xmlns:a="http://schemas.openxmlformats.org/drawingml/2006/main"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程序重启仍可恢复</a:t>
            </a:r>
          </a:p>
        </p:txBody>
      </p:sp>
    </p:spTree>
    <p:extLst>
      <p:ext uri="{BB962C8B-B14F-4D97-AF65-F5344CB8AC3E}">
        <p14:creationId xmlns:p14="http://schemas.microsoft.com/office/powerpoint/2010/main" val="1901504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B8394-8AEF-413C-90CB-FEAD91E6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F8353-66AE-427C-97A3-6695285A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现场演示：一句话触发完整健康规划闭环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DCDAF-AE83-4744-BA0A-D6149979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EAEBB-3A26-47E3-A499-466D9D85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509587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07F08-9663-4694-94A2-8504D04A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演示输入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28B05-FD45-4EF0-9D25-3CCAB87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4476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D"/>
                </a:solidFill>
              </a:defRPr>
            </a:pPr>
            <a:r>
              <a:rPr sz="1800" b="1">
                <a:solidFill>
                  <a:srgbClr val="14253D"/>
                </a:solidFill>
              </a:rPr>
              <a:t>帮我制定未来 7 天完整增肌健康生活方案。性别男，20 岁，175 cm，70 kg，住在宜春市袁州区，每周训练 4 次，每次 60 分钟，每天 4 餐，健康成人、无食物过敏，最后生成结果页面和二维码。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AD243-554A-43B1-9255-740A644C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67D7D-6F56-4D01-A665-3AF93818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最终交付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0FEA4-5685-43F8-AA87-DDE4C30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E70EB-9DB6-4459-9FAB-85DA0E8F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七日计划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5AB1C-D0FE-4449-B575-F52D9A0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99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每日饮食、训练与恢复安排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1418-DE6A-45EA-97E3-7CA8B351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DF400-2286-43B6-B68C-36536EB4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真实依据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32AA1-62BA-4EFC-8BAF-0E633C8E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148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天气、健康 RAG、营养估算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83E9F-7930-4311-9088-9EA0A32B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24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E0FFE-1C63-4427-835E-71E0A61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安全检查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1D87C-0F88-4B1B-BEED-C94F2A0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96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年龄范围、健康状况、过敏边界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4C330-9809-4FD2-A1AD-F82C189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F093F-6565-4248-9571-DF42B90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91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可访问成品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40063-D121-4E76-B371-09D5AD1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45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结果页面 + 手机可扫二维码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C8976-5E50-4A3A-AAB8-008B9BF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34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一句目标 → 自动执行 → 完整成品</a:t>
            </a:r>
          </a:p>
        </p:txBody>
      </p:sp>
    </p:spTree>
    <p:extLst>
      <p:ext uri="{BB962C8B-B14F-4D97-AF65-F5344CB8AC3E}">
        <p14:creationId xmlns:p14="http://schemas.microsoft.com/office/powerpoint/2010/main" val="1915461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E3739-5B0D-4D86-AE30-FFD4037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4A969-0C12-4F40-9112-B36FF8D3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功能扩展建立在可重复验证的工程基础上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5EDD6-BAEE-4EF5-91B8-EC505E1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70040-53F0-43FA-8442-DBA9454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</a:defRPr>
            </a:pPr>
            <a:r>
              <a:rPr sz="1575" b="0">
                <a:solidFill>
                  <a:srgbClr val="60656F"/>
                </a:solidFill>
              </a:rPr>
              <a:t>Java 21 + Spring Boot 4.1 的模块化单体，共编译 126 个主源码文件；GitHub Actions 使用 Java 21 执行完整验证。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10469-E096-4188-B7B9-337758B0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25FFD-BFE6-4481-85CE-83519978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671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8DFF"/>
                </a:solidFill>
              </a:defRPr>
            </a:pPr>
            <a:r>
              <a:rPr sz="4650" b="1">
                <a:solidFill>
                  <a:srgbClr val="3D8DFF"/>
                </a:solidFill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C7339-2B45-42AC-A400-94CCEB77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91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自动化测试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10B86-C28C-4E96-8BC1-E764020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054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0 失败 · 0 错误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DB5F3-1A4D-4EB2-87B1-7C0D86C2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33750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0B236-B298-44EB-9A36-5549AEC1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671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5C78A"/>
                </a:solidFill>
              </a:defRPr>
            </a:pPr>
            <a:r>
              <a:rPr sz="4650" b="1">
                <a:solidFill>
                  <a:srgbClr val="25C78A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FC667-8F4C-440A-AE9E-A208D43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91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本地 Tool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45AE5-25ED-4F83-8C0D-83F13B5B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054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白名单 + JSON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71A86-B4FB-483F-B649-104143A5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544C1-2743-4599-A5BD-6C1CB699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671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6DCBF4"/>
                </a:solidFill>
              </a:defRPr>
            </a:pPr>
            <a:r>
              <a:rPr sz="4650" b="1">
                <a:solidFill>
                  <a:srgbClr val="6DCBF4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D0E89-3C89-4EB4-BFF0-CF3B108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91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自定义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A2BE2-915D-47CD-88F7-BA8823B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054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规则优先，可独立注册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BC6CC-6E25-49A2-AECE-AE6CE5E1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29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53D"/>
                </a:solidFill>
              </a:defRPr>
            </a:pPr>
            <a:r>
              <a:rPr sz="1500" b="1">
                <a:solidFill>
                  <a:srgbClr val="14253D"/>
                </a:solidFill>
              </a:rPr>
              <a:t>另有 12 步 Agent 工作流、4 种健康目标、最多 5 轮 Function Calling 与每轮最多 4 个工具调用。</a:t>
            </a:r>
          </a:p>
        </p:txBody>
      </p:sp>
    </p:spTree>
    <p:extLst>
      <p:ext uri="{BB962C8B-B14F-4D97-AF65-F5344CB8AC3E}">
        <p14:creationId xmlns:p14="http://schemas.microsoft.com/office/powerpoint/2010/main" val="1771836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EEA58-A6DB-4044-B9F7-D5C308F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4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2CCE6-D6BF-496B-8880-E553D24F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最大的困难来自真实系统之间的边界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A34C9-DEB4-4181-8DD8-588CCEC7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DF72-072E-42D9-9AF6-13B87F67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33625"/>
            <a:ext cx="10668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FF57F-54D7-42C9-BE78-BC17AA3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难点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6E7A0-C783-4E2A-B978-081BDD93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具体表现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32EF-88FB-40CB-BF1E-BE291469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解决方式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06091-A4CA-476A-8BE9-9FAD91D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10668000" cy="895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FB7F9-201B-4DB5-869F-BEEFE4E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765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微信连接与登录状态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19581-9914-4BC7-B200-B7D43D9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19425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二维码生命周期、网络重置、重复消息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3015B-239F-46AD-A6E9-E0EC3048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94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自动打开二维码、轮询重试、消息去重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81C04-8C50-4C51-9621-CF5AC2EB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43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1BE3A-9C7A-4BD7-8914-47A036F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719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模型能力与平台波动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4CFD6-4DB2-4506-BA49-2847C521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文本/视觉/绘图接口不同，可能限流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80A22-8B9D-4375-A382-36C09A03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147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分模型配置、备用模型、统一异常提示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01D6C-2124-46F8-9C6D-63032E3D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386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FD01C-730B-4E91-8958-E3A9533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10668000" cy="895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14537-01B4-403D-A5AC-0B38806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672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语音与媒体格式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26BA-2AC2-4EC1-BD5F-10A88D6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SILK、PCM、WAV、MP3 与发送兼容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A0033-7EB5-4ECA-9631-069189A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优先微信转写，本地转换，TTS 失败回退文字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5DF7D-7D41-4D4D-A46F-FB68CAE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340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C792C-E4B0-4273-87E1-CCFE8FE4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62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多人分支整合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B3984-AC55-4469-9576-3F17E14E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05475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重复工具、接口不一致、配置泄露风险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73177-5BCD-4F73-A447-DCD0878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054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统一注册表与接口，去重择优，本地配置 Git 忽略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8A0BF-91CE-4C30-BC46-2C59E307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81209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BFC57-7721-4126-9458-FC03D0B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57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最终结论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0509A-C404-4360-920C-9EE25B9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一句目标，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Bot 可以交付完整结果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034A-66F2-4530-829B-07266B5F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0CC2F-8AD9-4083-AB0C-CEE76D8E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53D"/>
                </a:solidFill>
              </a:defRPr>
            </a:pPr>
            <a:r>
              <a:rPr sz="2025" b="0">
                <a:solidFill>
                  <a:srgbClr val="14253D"/>
                </a:solidFill>
              </a:rPr>
              <a:t>项目已经形成“可对话、可感知、可调用工具、可检索知识、可自主规划、可断点恢复”的完整系统。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B6A1A-E426-41F7-96CB-6D054A0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</a:defRPr>
            </a:pPr>
            <a:r>
              <a:rPr sz="1500" b="0">
                <a:solidFill>
                  <a:srgbClr val="60656F"/>
                </a:solidFill>
              </a:rPr>
              <a:t>下一步：向量 RAG · 更丰富的个人 Skill · 持久化用户画像 · 可观测性与性能评测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3560D-C053-4DFB-9173-65B46596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25C78A"/>
                </a:solidFill>
              </a:defRPr>
            </a:pPr>
            <a:r>
              <a:rPr sz="2550" b="1">
                <a:solidFill>
                  <a:srgbClr val="25C78A"/>
                </a:solidFill>
              </a:rPr>
              <a:t>Q &amp;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1BB27-49D3-444C-8837-9D6C208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05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6482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2026-08-30T14:28:45.1720000Z</dcterms:created>
  <dcterms:modified xsi:type="dcterms:W3CDTF">2026-08-30T14:28:45.1720000Z</dcterms:modified>
</coreProperties>
</file>