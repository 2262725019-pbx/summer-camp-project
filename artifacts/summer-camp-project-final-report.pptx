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开场先给出一句话定位：我们没有停留在问一句答一句，而是完成了一个能感知、能行动、能自主规划并交付结果的微信 AI Agent。</a:t>
            </a:r>
          </a:p>
          <a:p/>
          <a:p>
            <a:r>
              <a:t>[Sources]</a:t>
            </a:r>
          </a:p>
          <a:p>
            <a:r>
              <a:t>- D:/ykdSummerText/README.md</a:t>
            </a:r>
          </a:p>
          <a:p>
            <a:r>
              <a:t>- Generated visual: multimodal-agent-hero.png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 Agent 与普通聊天的差别：用户给的是目标，系统负责决定步骤、选择能力并形成最终成品。</a:t>
            </a:r>
          </a:p>
          <a:p/>
          <a:p>
            <a:r>
              <a:t>[Sources]</a:t>
            </a:r>
          </a:p>
          <a:p>
            <a:r>
              <a:t>- D:/ykdSummerText/README.md</a:t>
            </a:r>
          </a:p>
          <a:p>
            <a:r>
              <a:t>- D:/ykdSummerText/src/main/java/com/summercamp/project/agent/AgentRouter.java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按能力而不是按日期流水账讲述：先打通微信，再补齐多模态与工具体系，最后升级成自主规划 Agent。</a:t>
            </a:r>
          </a:p>
          <a:p/>
          <a:p>
            <a:r>
              <a:t>[Sources]</a:t>
            </a:r>
          </a:p>
          <a:p>
            <a:r>
              <a:t>- D:/ykdSummerText/README.md</a:t>
            </a:r>
          </a:p>
          <a:p>
            <a:r>
              <a:t>- D:/ykdSummerText/src/main/java/com/summercamp/project/Application.java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这页只讲一次完整消息路径：微信消息先进入统一路由，再由 Intent、Skill、RAG、Tool 或 Agent 接管，最后调用外部服务并形成多种输出。</a:t>
            </a:r>
          </a:p>
          <a:p/>
          <a:p>
            <a:r>
              <a:t>[Sources]</a:t>
            </a:r>
          </a:p>
          <a:p>
            <a:r>
              <a:t>- D:/ykdSummerText/src/main/java/com/summercamp/project/message/MessageProcessor.java</a:t>
            </a:r>
          </a:p>
          <a:p>
            <a:r>
              <a:t>- D:/ykdSummerText/src/main/java/com/summercamp/project/llm/ZhipuAiClient.java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用三层归纳而不是逐条念功能：多模态解决输入输出，可信信息解决事实来源，行动与交付解决真正完成任务。</a:t>
            </a:r>
          </a:p>
          <a:p/>
          <a:p>
            <a:r>
              <a:t>[Sources]</a:t>
            </a:r>
          </a:p>
          <a:p>
            <a:r>
              <a:t>- D:/ykdSummerText/README.md</a:t>
            </a:r>
          </a:p>
          <a:p>
            <a:r>
              <a:t>- D:/ykdSummerText/src/main/java/com/summercamp/project/message/MessageProcessor.java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Tool、Skill、RAG 不是三个同义词。Tool 做动作，Skill 承载流程，RAG 提供依据；统一路由让它们在同一条消息链路中协作。</a:t>
            </a:r>
          </a:p>
          <a:p/>
          <a:p>
            <a:r>
              <a:t>[Sources]</a:t>
            </a:r>
          </a:p>
          <a:p>
            <a:r>
              <a:t>- D:/ykdSummerText/src/main/java/com/summercamp/project/tool/ToolRegistry.java</a:t>
            </a:r>
          </a:p>
          <a:p>
            <a:r>
              <a:t>- D:/ykdSummerText/src/main/java/com/summercamp/project/skill/SkillRegistry.java</a:t>
            </a:r>
          </a:p>
          <a:p>
            <a:r>
              <a:t>- D:/ykdSummerText/src/main/java/com/summercamp/project/rag/KeywordRagRetriever.java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重点讲依赖关系：RAG、天气和营养彼此独立，因此并行；训练、餐单、组装和评估依赖前一步，因此严格串行。</a:t>
            </a:r>
          </a:p>
          <a:p/>
          <a:p>
            <a:r>
              <a:t>[Sources]</a:t>
            </a:r>
          </a:p>
          <a:p>
            <a:r>
              <a:t>- D:/ykdSummerText/src/main/java/com/summercamp/project/agent/planning/TaskPlanner.java</a:t>
            </a:r>
          </a:p>
          <a:p>
            <a:r>
              <a:t>- D:/ykdSummerText/src/main/java/com/summercamp/project/agent/HealthPlanAgent.java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这页对应后期优化成果：不只追求功能跑通，还要控制响应时间、Token 消耗和故障影响范围。</a:t>
            </a:r>
          </a:p>
          <a:p/>
          <a:p>
            <a:r>
              <a:t>[Sources]</a:t>
            </a:r>
          </a:p>
          <a:p>
            <a:r>
              <a:t>- D:/ykdSummerText/src/main/java/com/summercamp/project/agent/AgentPromptOptimizer.java</a:t>
            </a:r>
          </a:p>
          <a:p>
            <a:r>
              <a:t>- D:/ykdSummerText/src/main/java/com/summercamp/project/agent/store/AgentStateDatabase.java</a:t>
            </a:r>
          </a:p>
          <a:p>
            <a:r>
              <a:t>- D:/ykdSummerText/src/main/java/com/summercamp/project/weather/CachingWeatherClient.java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建议现场直接复制左侧话术。等待过程中可以发送“查看任务进度”，完成后扫描二维码展示结果页面。</a:t>
            </a:r>
          </a:p>
          <a:p/>
          <a:p>
            <a:r>
              <a:t>[Sources]</a:t>
            </a:r>
          </a:p>
          <a:p>
            <a:r>
              <a:t>- D:/ykdSummerText/README.md</a:t>
            </a:r>
          </a:p>
          <a:p>
            <a:r>
              <a:t>- D:/ykdSummerText/src/main/java/com/summercamp/project/agent/HealthPlanAgent.java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用数字证明项目不是演示脚本：154 个测试覆盖路由、工具、Skill、天气、语音、结果页、并行调度和 SQLite 上下文启动。</a:t>
            </a:r>
          </a:p>
          <a:p/>
          <a:p>
            <a:r>
              <a:t>[Sources]</a:t>
            </a:r>
          </a:p>
          <a:p>
            <a:r>
              <a:t>- Maven verify output, 2026-08-30</a:t>
            </a:r>
          </a:p>
          <a:p>
            <a:r>
              <a:t>- D:/ykdSummerText/src/test/java</a:t>
            </a:r>
          </a:p>
          <a:p>
            <a:r>
              <a:t>- D:/ykdSummerText/src/main/java/com/summercamp/project/llm/ZhipuAiClient.java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这一页强调真实工程经验：最难的不是写一个算法，而是让微信、模型、天气、语音和团队代码在同一套边界内稳定工作。</a:t>
            </a:r>
          </a:p>
          <a:p/>
          <a:p>
            <a:r>
              <a:t>[Sources]</a:t>
            </a:r>
          </a:p>
          <a:p>
            <a:r>
              <a:t>- D:/ykdSummerText/README.md</a:t>
            </a:r>
          </a:p>
          <a:p>
            <a:r>
              <a:t>- D:/ykdSummerText/src/main/java/com/summercamp/project/wechat/ILinkWechatGateway.java</a:t>
            </a:r>
          </a:p>
          <a:p>
            <a:r>
              <a:t>- D:/ykdSummerText/src/main/java/com/summercamp/project/speech/WechatAudioConverter.java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收尾回到开场：项目的核心成果不是功能数量，而是把多种能力组织成了一个能自主完成复杂任务、并且可以稳定恢复的系统。</a:t>
            </a:r>
          </a:p>
          <a:p/>
          <a:p>
            <a:r>
              <a:t>[Sources]</a:t>
            </a:r>
          </a:p>
          <a:p>
            <a:r>
              <a:t>- D:/ykdSummerText/README.md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533400" y="4191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夏令营项目最终成果汇报</a:t>
            </a:r>
            <a:endParaRPr sz="1200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295400"/>
            <a:ext cx="4953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4350" b="1">
                <a:solidFill>
                  <a:srgbClr val="101114"/>
                </a:solidFill>
              </a:defRPr>
            </a:pPr>
            <a:r>
              <a:rPr sz="4350" b="1">
                <a:solidFill>
                  <a:srgbClr val="101114"/>
                </a:solidFill>
              </a:rPr>
              <a:t>微信多模态</a:t>
            </a:r>
            <a:endParaRPr sz="4350" b="1">
              <a:solidFill>
                <a:srgbClr val="101114"/>
              </a:solidFill>
            </a:endParaRPr>
          </a:p>
          <a:p>
            <a:pPr algn="l">
              <a:defRPr sz="4350" b="1">
                <a:solidFill>
                  <a:srgbClr val="101114"/>
                </a:solidFill>
              </a:defRPr>
            </a:pPr>
            <a:r>
              <a:rPr sz="4350" b="1">
                <a:solidFill>
                  <a:srgbClr val="101114"/>
                </a:solidFill>
              </a:rPr>
              <a:t>AI Agent</a:t>
            </a:r>
            <a:endParaRPr sz="4350" b="1">
              <a:solidFill>
                <a:srgbClr val="10111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000375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100" b="0">
                <a:solidFill>
                  <a:srgbClr val="14253D"/>
                </a:solidFill>
              </a:defRPr>
            </a:pPr>
            <a:r>
              <a:rPr sz="2100" b="0">
                <a:solidFill>
                  <a:srgbClr val="14253D"/>
                </a:solidFill>
              </a:rPr>
              <a:t>从消息收发到自主规划的完整闭环</a:t>
            </a:r>
            <a:endParaRPr sz="2100" b="0">
              <a:solidFill>
                <a:srgbClr val="14253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3810000"/>
            <a:ext cx="22860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4095750"/>
            <a:ext cx="504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Java 21 · Spring Boot · iLink · 智谱 · 高德 · SQLite</a:t>
            </a:r>
            <a:endParaRPr sz="1350" b="0">
              <a:solidFill>
                <a:srgbClr val="60656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5657850"/>
            <a:ext cx="504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项目组：</a:t>
            </a:r>
            <a:r>
              <a:rPr lang="en-US" sz="1350" b="0">
                <a:solidFill>
                  <a:srgbClr val="60656F"/>
                </a:solidFill>
              </a:rPr>
              <a:t>13</a:t>
            </a:r>
            <a:r>
              <a:rPr lang="zh-CN" altLang="en-US" sz="1350" b="0">
                <a:solidFill>
                  <a:srgbClr val="60656F"/>
                </a:solidFill>
                <a:ea typeface="宋体" panose="02010600030101010101" pitchFamily="2" charset="-122"/>
              </a:rPr>
              <a:t>组</a:t>
            </a:r>
            <a:r>
              <a:rPr sz="1350" b="0">
                <a:solidFill>
                  <a:srgbClr val="60656F"/>
                </a:solidFill>
              </a:rPr>
              <a:t>    汇报人：</a:t>
            </a:r>
            <a:r>
              <a:rPr lang="zh-CN" sz="1350" b="0">
                <a:solidFill>
                  <a:srgbClr val="60656F"/>
                </a:solidFill>
                <a:ea typeface="宋体" panose="02010600030101010101" pitchFamily="2" charset="-122"/>
              </a:rPr>
              <a:t>彭勃雄</a:t>
            </a:r>
            <a:endParaRPr lang="zh-CN" sz="1350" b="0">
              <a:solidFill>
                <a:srgbClr val="60656F"/>
              </a:solidFill>
              <a:ea typeface="宋体" panose="02010600030101010101" pitchFamily="2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286500" y="419100"/>
            <a:ext cx="5372100" cy="5543550"/>
          </a:xfrm>
          <a:prstGeom prst="roundRect">
            <a:avLst>
              <a:gd name="adj" fmla="val 2128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 t="8709" b="8709"/>
          <a:stretch>
            <a:fillRect/>
          </a:stretch>
        </p:blipFill>
        <p:spPr>
          <a:xfrm>
            <a:off x="6286500" y="419100"/>
            <a:ext cx="5372100" cy="5543550"/>
          </a:xfrm>
          <a:prstGeom prst="roundRect">
            <a:avLst>
              <a:gd name="adj" fmla="val 2128"/>
            </a:avLst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3809"/>
          </a:bodyPr>
          <a:lstStyle/>
          <a:p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01</a:t>
            </a:r>
            <a:endParaRPr sz="1050" b="0">
              <a:solidFill>
                <a:srgbClr val="60656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533400" y="2857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619"/>
          </a:bodyPr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  <a:endParaRPr sz="1050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6477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我们解决的不是一次问答，而是一整套任务</a:t>
            </a:r>
            <a:endParaRPr sz="3000" b="1">
              <a:solidFill>
                <a:srgbClr val="10111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3809"/>
          </a:bodyPr>
          <a:lstStyle/>
          <a:p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02</a:t>
            </a:r>
            <a:endParaRPr sz="1050" b="0">
              <a:solidFill>
                <a:srgbClr val="60656F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33400" y="1676400"/>
            <a:ext cx="4857750" cy="3867150"/>
          </a:xfrm>
          <a:prstGeom prst="roundRect">
            <a:avLst>
              <a:gd name="adj" fmla="val 2956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19150" y="1952625"/>
            <a:ext cx="1790700" cy="323850"/>
          </a:xfrm>
          <a:prstGeom prst="roundRect">
            <a:avLst>
              <a:gd name="adj" fmla="val 50000"/>
            </a:avLst>
          </a:prstGeom>
          <a:solidFill>
            <a:srgbClr val="25C78A"/>
          </a:solidFill>
          <a:ln w="0">
            <a:noFill/>
            <a:prstDash val="solid"/>
          </a:ln>
        </p:spPr>
        <p:txBody>
          <a:bodyPr anchor="ctr">
            <a:normAutofit fontScale="75217"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用户只说最终目标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2571750"/>
            <a:ext cx="4286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250" b="1">
                <a:solidFill>
                  <a:srgbClr val="14253D"/>
                </a:solidFill>
              </a:defRPr>
            </a:pPr>
            <a:r>
              <a:rPr sz="2250" b="1">
                <a:solidFill>
                  <a:srgbClr val="14253D"/>
                </a:solidFill>
              </a:rPr>
              <a:t>“帮我制定未来 7 天的完整健康生活方案，结合天气、饮食和训练，最后生成结果页面与二维码。”</a:t>
            </a:r>
            <a:endParaRPr sz="2250" b="1">
              <a:solidFill>
                <a:srgbClr val="14253D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4810125"/>
            <a:ext cx="409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3712"/>
          </a:bodyPr>
          <a:lstStyle/>
          <a:p>
            <a:pPr algn="l">
              <a:defRPr sz="1500" b="0">
                <a:solidFill>
                  <a:srgbClr val="60656F"/>
                </a:solidFill>
              </a:defRPr>
            </a:pPr>
            <a:r>
              <a:rPr sz="1500" b="0">
                <a:solidFill>
                  <a:srgbClr val="60656F"/>
                </a:solidFill>
              </a:rPr>
              <a:t>不提供步骤，不指定工具，不要求用户反复追问。</a:t>
            </a:r>
            <a:endParaRPr sz="1500" b="0">
              <a:solidFill>
                <a:srgbClr val="60656F"/>
              </a:solidFill>
            </a:endParaRPr>
          </a:p>
        </p:txBody>
      </p:sp>
      <p:sp>
        <p:nvSpPr>
          <p:cNvPr id="8" name="右箭头 7"/>
          <p:cNvSpPr>
            <a:spLocks noGrp="1"/>
          </p:cNvSpPr>
          <p:nvPr/>
        </p:nvSpPr>
        <p:spPr>
          <a:xfrm>
            <a:off x="5600700" y="3267075"/>
            <a:ext cx="666750" cy="304800"/>
          </a:xfrm>
          <a:prstGeom prst="rightArrow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496050" y="1733550"/>
            <a:ext cx="533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01</a:t>
            </a:r>
            <a:endParaRPr sz="2100" b="1">
              <a:solidFill>
                <a:srgbClr val="3D8D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162800" y="161925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436"/>
          </a:bodyPr>
          <a:lstStyle/>
          <a:p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理解</a:t>
            </a:r>
            <a:endParaRPr sz="1950" b="1">
              <a:solidFill>
                <a:srgbClr val="101114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162800" y="203835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246"/>
          </a:bodyPr>
          <a:lstStyle/>
          <a:p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提取目标与约束</a:t>
            </a:r>
            <a:endParaRPr sz="1425" b="0">
              <a:solidFill>
                <a:srgbClr val="60656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162800" y="2495550"/>
            <a:ext cx="3714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496050" y="2762250"/>
            <a:ext cx="533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02</a:t>
            </a:r>
            <a:endParaRPr sz="2100" b="1">
              <a:solidFill>
                <a:srgbClr val="3D8D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62800" y="264795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436"/>
          </a:bodyPr>
          <a:lstStyle/>
          <a:p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规划</a:t>
            </a:r>
            <a:endParaRPr sz="1950" b="1">
              <a:solidFill>
                <a:srgbClr val="101114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162800" y="306705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246"/>
          </a:bodyPr>
          <a:lstStyle/>
          <a:p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拆解依赖与并行步骤</a:t>
            </a:r>
            <a:endParaRPr sz="1425" b="0">
              <a:solidFill>
                <a:srgbClr val="60656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162800" y="3524250"/>
            <a:ext cx="3714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96050" y="3790950"/>
            <a:ext cx="533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03</a:t>
            </a:r>
            <a:endParaRPr sz="2100" b="1">
              <a:solidFill>
                <a:srgbClr val="3D8D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162800" y="367665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436"/>
          </a:bodyPr>
          <a:lstStyle/>
          <a:p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执行</a:t>
            </a:r>
            <a:endParaRPr sz="1950" b="1">
              <a:solidFill>
                <a:srgbClr val="101114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162800" y="409575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246"/>
          </a:bodyPr>
          <a:lstStyle/>
          <a:p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协作天气、RAG、Skill、Tool</a:t>
            </a:r>
            <a:endParaRPr sz="1425" b="0">
              <a:solidFill>
                <a:srgbClr val="60656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162800" y="4552950"/>
            <a:ext cx="37147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496050" y="4819650"/>
            <a:ext cx="533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04</a:t>
            </a:r>
            <a:endParaRPr sz="2100" b="1">
              <a:solidFill>
                <a:srgbClr val="3D8DF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162800" y="470535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436"/>
          </a:bodyPr>
          <a:lstStyle/>
          <a:p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交付</a:t>
            </a:r>
            <a:endParaRPr sz="1950" b="1">
              <a:solidFill>
                <a:srgbClr val="10111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162800" y="512445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246"/>
          </a:bodyPr>
          <a:lstStyle/>
          <a:p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七日计划、页面与二维码</a:t>
            </a:r>
            <a:endParaRPr sz="1425" b="0">
              <a:solidFill>
                <a:srgbClr val="60656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533400" y="2857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619"/>
          </a:bodyPr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  <a:endParaRPr sz="1050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6477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两周迭代让项目完成三次能力跃迁</a:t>
            </a:r>
            <a:endParaRPr sz="3000" b="1">
              <a:solidFill>
                <a:srgbClr val="10111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3809"/>
          </a:bodyPr>
          <a:lstStyle/>
          <a:p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03</a:t>
            </a:r>
            <a:endParaRPr sz="1050" b="0">
              <a:solidFill>
                <a:srgbClr val="60656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3276600"/>
            <a:ext cx="10820400" cy="19050"/>
          </a:xfrm>
          <a:prstGeom prst="rect">
            <a:avLst/>
          </a:prstGeom>
          <a:solidFill>
            <a:srgbClr val="101114"/>
          </a:soli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685800" y="3209925"/>
            <a:ext cx="152400" cy="1524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26479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第一阶段</a:t>
            </a:r>
            <a:endParaRPr sz="1275" b="1">
              <a:solidFill>
                <a:srgbClr val="6DCBF4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371475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025" b="1">
                <a:solidFill>
                  <a:srgbClr val="101114"/>
                </a:solidFill>
              </a:defRPr>
            </a:pPr>
            <a:r>
              <a:rPr sz="2025" b="1">
                <a:solidFill>
                  <a:srgbClr val="101114"/>
                </a:solidFill>
              </a:rPr>
              <a:t>Bot 能用</a:t>
            </a:r>
            <a:endParaRPr sz="2025" b="1">
              <a:solidFill>
                <a:srgbClr val="101114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5800" y="4257675"/>
            <a:ext cx="3048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Spring Boot 项目骨架</a:t>
            </a:r>
            <a:endParaRPr sz="1425" b="0">
              <a:solidFill>
                <a:srgbClr val="60656F"/>
              </a:solidFill>
            </a:endParaRPr>
          </a:p>
          <a:p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微信二维码登录与长轮询</a:t>
            </a:r>
            <a:endParaRPr sz="1425" b="0">
              <a:solidFill>
                <a:srgbClr val="60656F"/>
              </a:solidFill>
            </a:endParaRPr>
          </a:p>
          <a:p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SLF4J / Logback / CI</a:t>
            </a:r>
            <a:endParaRPr sz="1425" b="0">
              <a:solidFill>
                <a:srgbClr val="60656F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4286250" y="3209925"/>
            <a:ext cx="152400" cy="1524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286250" y="26479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第二阶段</a:t>
            </a:r>
            <a:endParaRPr sz="1275" b="1">
              <a:solidFill>
                <a:srgbClr val="3D8D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286250" y="371475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025" b="1">
                <a:solidFill>
                  <a:srgbClr val="101114"/>
                </a:solidFill>
              </a:defRPr>
            </a:pPr>
            <a:r>
              <a:rPr sz="2025" b="1">
                <a:solidFill>
                  <a:srgbClr val="101114"/>
                </a:solidFill>
              </a:rPr>
              <a:t>Bot 能感知与行动</a:t>
            </a:r>
            <a:endParaRPr sz="2025" b="1">
              <a:solidFill>
                <a:srgbClr val="101114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286250" y="4257675"/>
            <a:ext cx="3048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文字、图片、语音</a:t>
            </a:r>
            <a:endParaRPr sz="1425" b="0">
              <a:solidFill>
                <a:srgbClr val="60656F"/>
              </a:solidFill>
            </a:endParaRPr>
          </a:p>
          <a:p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天气与 Function Calling</a:t>
            </a:r>
            <a:endParaRPr sz="1425" b="0">
              <a:solidFill>
                <a:srgbClr val="60656F"/>
              </a:solidFill>
            </a:endParaRPr>
          </a:p>
          <a:p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Tool、Skill、RAG</a:t>
            </a:r>
            <a:endParaRPr sz="1425" b="0">
              <a:solidFill>
                <a:srgbClr val="60656F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7886700" y="3209925"/>
            <a:ext cx="152400" cy="152400"/>
          </a:xfrm>
          <a:prstGeom prst="ellipse">
            <a:avLst/>
          </a:prstGeom>
          <a:solidFill>
            <a:srgbClr val="25C78A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886700" y="26479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1">
                <a:solidFill>
                  <a:srgbClr val="25C78A"/>
                </a:solidFill>
              </a:defRPr>
            </a:pPr>
            <a:r>
              <a:rPr sz="1275" b="1">
                <a:solidFill>
                  <a:srgbClr val="25C78A"/>
                </a:solidFill>
              </a:rPr>
              <a:t>第三阶段</a:t>
            </a:r>
            <a:endParaRPr sz="1275" b="1">
              <a:solidFill>
                <a:srgbClr val="25C78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86700" y="371475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025" b="1">
                <a:solidFill>
                  <a:srgbClr val="101114"/>
                </a:solidFill>
              </a:defRPr>
            </a:pPr>
            <a:r>
              <a:rPr sz="2025" b="1">
                <a:solidFill>
                  <a:srgbClr val="101114"/>
                </a:solidFill>
              </a:rPr>
              <a:t>Bot 能自主完成任务</a:t>
            </a:r>
            <a:endParaRPr sz="2025" b="1">
              <a:solidFill>
                <a:srgbClr val="101114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86700" y="4257675"/>
            <a:ext cx="3048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12 步健康规划 Agent</a:t>
            </a:r>
            <a:endParaRPr sz="1425" b="0">
              <a:solidFill>
                <a:srgbClr val="60656F"/>
              </a:solidFill>
            </a:endParaRPr>
          </a:p>
          <a:p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并行、缓存、Prompt 压缩</a:t>
            </a:r>
            <a:endParaRPr sz="1425" b="0">
              <a:solidFill>
                <a:srgbClr val="60656F"/>
              </a:solidFill>
            </a:endParaRPr>
          </a:p>
          <a:p>
            <a:pPr algn="l">
              <a:defRPr sz="1425" b="0">
                <a:solidFill>
                  <a:srgbClr val="60656F"/>
                </a:solidFill>
              </a:defRPr>
            </a:pPr>
            <a:r>
              <a:rPr sz="1425" b="0">
                <a:solidFill>
                  <a:srgbClr val="60656F"/>
                </a:solidFill>
              </a:rPr>
              <a:t>SQLite 续跑与每日提醒</a:t>
            </a:r>
            <a:endParaRPr sz="1425" b="0">
              <a:solidFill>
                <a:srgbClr val="60656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533400" y="2857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619"/>
          </a:bodyPr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  <a:endParaRPr sz="1050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6477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统一消息路由把多种能力组织成一条链路</a:t>
            </a:r>
            <a:endParaRPr sz="3000" b="1">
              <a:solidFill>
                <a:srgbClr val="10111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3809"/>
          </a:bodyPr>
          <a:lstStyle/>
          <a:p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04</a:t>
            </a:r>
            <a:endParaRPr sz="1050" b="0">
              <a:solidFill>
                <a:srgbClr val="60656F"/>
              </a:solidFill>
            </a:endParaRPr>
          </a:p>
        </p:txBody>
      </p:sp>
      <p:sp>
        <p:nvSpPr>
          <p:cNvPr id="4" name="右箭头 3"/>
          <p:cNvSpPr>
            <a:spLocks noGrp="1"/>
          </p:cNvSpPr>
          <p:nvPr/>
        </p:nvSpPr>
        <p:spPr>
          <a:xfrm>
            <a:off x="2495550" y="3286125"/>
            <a:ext cx="571500" cy="266700"/>
          </a:xfrm>
          <a:prstGeom prst="rightArrow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5" name="右箭头 4"/>
          <p:cNvSpPr>
            <a:spLocks noGrp="1"/>
          </p:cNvSpPr>
          <p:nvPr/>
        </p:nvSpPr>
        <p:spPr>
          <a:xfrm>
            <a:off x="5314950" y="3286125"/>
            <a:ext cx="571500" cy="266700"/>
          </a:xfrm>
          <a:prstGeom prst="rightArrow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6" name="右箭头 5"/>
          <p:cNvSpPr>
            <a:spLocks noGrp="1"/>
          </p:cNvSpPr>
          <p:nvPr/>
        </p:nvSpPr>
        <p:spPr>
          <a:xfrm>
            <a:off x="8458200" y="3286125"/>
            <a:ext cx="571500" cy="266700"/>
          </a:xfrm>
          <a:prstGeom prst="rightArrow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533400" y="1809750"/>
            <a:ext cx="1952625" cy="3448050"/>
          </a:xfrm>
          <a:prstGeom prst="roundRect">
            <a:avLst>
              <a:gd name="adj" fmla="val 5854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095500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4615"/>
          </a:bodyPr>
          <a:lstStyle/>
          <a:p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微信输入</a:t>
            </a:r>
            <a:endParaRPr sz="1950" b="1">
              <a:solidFill>
                <a:srgbClr val="101114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27813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425" b="0">
                <a:solidFill>
                  <a:srgbClr val="14253D"/>
                </a:solidFill>
              </a:defRPr>
            </a:pPr>
            <a:r>
              <a:rPr sz="1425" b="0">
                <a:solidFill>
                  <a:srgbClr val="14253D"/>
                </a:solidFill>
              </a:rPr>
              <a:t>• 文字 + 上下文</a:t>
            </a:r>
            <a:endParaRPr sz="1425" b="0">
              <a:solidFill>
                <a:srgbClr val="14253D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32766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425" b="0">
                <a:solidFill>
                  <a:srgbClr val="14253D"/>
                </a:solidFill>
              </a:defRPr>
            </a:pPr>
            <a:r>
              <a:rPr sz="1425" b="0">
                <a:solidFill>
                  <a:srgbClr val="14253D"/>
                </a:solidFill>
              </a:rPr>
              <a:t>• 图片 + 问题</a:t>
            </a:r>
            <a:endParaRPr sz="1425" b="0">
              <a:solidFill>
                <a:srgbClr val="14253D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37719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425" b="0">
                <a:solidFill>
                  <a:srgbClr val="14253D"/>
                </a:solidFill>
              </a:defRPr>
            </a:pPr>
            <a:r>
              <a:rPr sz="1425" b="0">
                <a:solidFill>
                  <a:srgbClr val="14253D"/>
                </a:solidFill>
              </a:rPr>
              <a:t>• 语音 + 转写</a:t>
            </a:r>
            <a:endParaRPr sz="1425" b="0">
              <a:solidFill>
                <a:srgbClr val="14253D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42672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425" b="0">
                <a:solidFill>
                  <a:srgbClr val="14253D"/>
                </a:solidFill>
              </a:defRPr>
            </a:pPr>
            <a:r>
              <a:rPr sz="1425" b="0">
                <a:solidFill>
                  <a:srgbClr val="14253D"/>
                </a:solidFill>
              </a:rPr>
              <a:t>• 命令 / 媒体</a:t>
            </a:r>
            <a:endParaRPr sz="1425" b="0">
              <a:solidFill>
                <a:srgbClr val="14253D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3067050" y="2266950"/>
            <a:ext cx="2247900" cy="2571750"/>
          </a:xfrm>
          <a:prstGeom prst="roundRect">
            <a:avLst>
              <a:gd name="adj" fmla="val 5085"/>
            </a:avLst>
          </a:prstGeom>
          <a:solidFill>
            <a:srgbClr val="101114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305175" y="2619375"/>
            <a:ext cx="1771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7070"/>
          </a:bodyPr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MessageProcessor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352800" y="3190875"/>
            <a:ext cx="1676400" cy="28575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305175" y="3429000"/>
            <a:ext cx="17716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去重 · 限制检查</a:t>
            </a:r>
            <a:endParaRPr sz="1425" b="0">
              <a:solidFill>
                <a:srgbClr val="FFFFFF"/>
              </a:solidFill>
            </a:endParaRPr>
          </a:p>
          <a:p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命令优先 · 意图识别</a:t>
            </a:r>
            <a:endParaRPr sz="1425" b="0">
              <a:solidFill>
                <a:srgbClr val="FFFFFF"/>
              </a:solidFill>
            </a:endParaRPr>
          </a:p>
          <a:p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待处理状态 · 统一回复</a:t>
            </a:r>
            <a:endParaRPr sz="1425" b="0">
              <a:solidFill>
                <a:srgbClr val="FFFFF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5886450" y="1619250"/>
            <a:ext cx="2571750" cy="3733800"/>
          </a:xfrm>
          <a:prstGeom prst="roundRect">
            <a:avLst>
              <a:gd name="adj" fmla="val 4444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153150" y="1905000"/>
            <a:ext cx="2038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1026"/>
          </a:bodyPr>
          <a:lstStyle/>
          <a:p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智能编排</a:t>
            </a:r>
            <a:endParaRPr sz="1950" b="1">
              <a:solidFill>
                <a:srgbClr val="101114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153150" y="2476500"/>
            <a:ext cx="70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474"/>
          </a:bodyPr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Intent</a:t>
            </a:r>
            <a:endParaRPr sz="1425" b="1">
              <a:solidFill>
                <a:srgbClr val="3D8D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934200" y="24765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9662"/>
          </a:bodyPr>
          <a:lstStyle/>
          <a:p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本地规则 + 模型兜底</a:t>
            </a:r>
            <a:endParaRPr sz="1275" b="0">
              <a:solidFill>
                <a:srgbClr val="60656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153150" y="3009900"/>
            <a:ext cx="70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474"/>
          </a:bodyPr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Skill</a:t>
            </a:r>
            <a:endParaRPr sz="1425" b="1">
              <a:solidFill>
                <a:srgbClr val="3D8DF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934200" y="30099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明确业务流程</a:t>
            </a:r>
            <a:endParaRPr sz="1275" b="0">
              <a:solidFill>
                <a:srgbClr val="60656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153150" y="3543300"/>
            <a:ext cx="70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474"/>
          </a:bodyPr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RAG</a:t>
            </a:r>
            <a:endParaRPr sz="1425" b="1">
              <a:solidFill>
                <a:srgbClr val="3D8DF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934200" y="35433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可信知识增强</a:t>
            </a:r>
            <a:endParaRPr sz="1275" b="0">
              <a:solidFill>
                <a:srgbClr val="60656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153150" y="4076700"/>
            <a:ext cx="70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474"/>
          </a:bodyPr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Tool</a:t>
            </a:r>
            <a:endParaRPr sz="1425" b="1">
              <a:solidFill>
                <a:srgbClr val="3D8D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934200" y="40767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白名单原子动作</a:t>
            </a:r>
            <a:endParaRPr sz="1275" b="0">
              <a:solidFill>
                <a:srgbClr val="60656F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153150" y="4610100"/>
            <a:ext cx="70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9474"/>
          </a:bodyPr>
          <a:lstStyle/>
          <a:p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Agent</a:t>
            </a:r>
            <a:endParaRPr sz="1425" b="1">
              <a:solidFill>
                <a:srgbClr val="3D8DF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934200" y="46101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750"/>
          </a:bodyPr>
          <a:lstStyle/>
          <a:p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规划、执行、评估</a:t>
            </a:r>
            <a:endParaRPr sz="1275" b="0">
              <a:solidFill>
                <a:srgbClr val="60656F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9029700" y="1809750"/>
            <a:ext cx="2628900" cy="3448050"/>
          </a:xfrm>
          <a:prstGeom prst="roundRect">
            <a:avLst>
              <a:gd name="adj" fmla="val 4348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296400" y="209550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1026"/>
          </a:bodyPr>
          <a:lstStyle/>
          <a:p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服务与输出</a:t>
            </a:r>
            <a:endParaRPr sz="1950" b="1">
              <a:solidFill>
                <a:srgbClr val="101114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296400" y="26860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5062"/>
          </a:bodyPr>
          <a:lstStyle/>
          <a:p>
            <a:pPr algn="l">
              <a:defRPr sz="1275" b="0">
                <a:solidFill>
                  <a:srgbClr val="14253D"/>
                </a:solidFill>
              </a:defRPr>
            </a:pPr>
            <a:r>
              <a:rPr sz="1275" b="0">
                <a:solidFill>
                  <a:srgbClr val="14253D"/>
                </a:solidFill>
              </a:rPr>
              <a:t>• 智谱：聊天 / 视觉 / 绘图 / ASR</a:t>
            </a:r>
            <a:endParaRPr sz="1275" b="0">
              <a:solidFill>
                <a:srgbClr val="14253D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296400" y="31432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0">
                <a:solidFill>
                  <a:srgbClr val="14253D"/>
                </a:solidFill>
              </a:defRPr>
            </a:pPr>
            <a:r>
              <a:rPr sz="1275" b="0">
                <a:solidFill>
                  <a:srgbClr val="14253D"/>
                </a:solidFill>
              </a:rPr>
              <a:t>• 高德：行政区与天气</a:t>
            </a:r>
            <a:endParaRPr sz="1275" b="0">
              <a:solidFill>
                <a:srgbClr val="14253D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296400" y="36004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0">
                <a:solidFill>
                  <a:srgbClr val="14253D"/>
                </a:solidFill>
              </a:defRPr>
            </a:pPr>
            <a:r>
              <a:rPr sz="1275" b="0">
                <a:solidFill>
                  <a:srgbClr val="14253D"/>
                </a:solidFill>
              </a:rPr>
              <a:t>• Edge TTS：免费语音合成</a:t>
            </a:r>
            <a:endParaRPr sz="1275" b="0">
              <a:solidFill>
                <a:srgbClr val="14253D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296400" y="40576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0">
                <a:solidFill>
                  <a:srgbClr val="14253D"/>
                </a:solidFill>
              </a:defRPr>
            </a:pPr>
            <a:r>
              <a:rPr sz="1275" b="0">
                <a:solidFill>
                  <a:srgbClr val="14253D"/>
                </a:solidFill>
              </a:rPr>
              <a:t>• SQLite：状态与提醒</a:t>
            </a:r>
            <a:endParaRPr sz="1275" b="0">
              <a:solidFill>
                <a:srgbClr val="14253D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296400" y="45148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7926"/>
          </a:bodyPr>
          <a:lstStyle/>
          <a:p>
            <a:pPr algn="l">
              <a:defRPr sz="1275" b="0">
                <a:solidFill>
                  <a:srgbClr val="14253D"/>
                </a:solidFill>
              </a:defRPr>
            </a:pPr>
            <a:r>
              <a:rPr sz="1275" b="0">
                <a:solidFill>
                  <a:srgbClr val="14253D"/>
                </a:solidFill>
              </a:rPr>
              <a:t>• 文本 / 图片 / 音频 / 页面 / 二维码</a:t>
            </a:r>
            <a:endParaRPr sz="1275" b="0">
              <a:solidFill>
                <a:srgbClr val="14253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533400" y="2857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619"/>
          </a:bodyPr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  <a:endParaRPr sz="1050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6477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三层能力让机器人既能理解，也能执行</a:t>
            </a:r>
            <a:endParaRPr sz="3000" b="1">
              <a:solidFill>
                <a:srgbClr val="10111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3809"/>
          </a:bodyPr>
          <a:lstStyle/>
          <a:p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05</a:t>
            </a:r>
            <a:endParaRPr sz="1050" b="0">
              <a:solidFill>
                <a:srgbClr val="60656F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33400" y="2038350"/>
            <a:ext cx="3143250" cy="3143250"/>
          </a:xfrm>
          <a:prstGeom prst="roundRect">
            <a:avLst>
              <a:gd name="adj" fmla="val 3636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762000" y="1714500"/>
            <a:ext cx="552450" cy="552450"/>
          </a:xfrm>
          <a:prstGeom prst="ellipse">
            <a:avLst/>
          </a:prstGeom>
          <a:solidFill>
            <a:srgbClr val="25C78A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1819275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2524125"/>
            <a:ext cx="2609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025" b="1">
                <a:solidFill>
                  <a:srgbClr val="101114"/>
                </a:solidFill>
              </a:defRPr>
            </a:pPr>
            <a:r>
              <a:rPr sz="2025" b="1">
                <a:solidFill>
                  <a:srgbClr val="101114"/>
                </a:solidFill>
              </a:rPr>
              <a:t>多模态交互</a:t>
            </a:r>
            <a:endParaRPr sz="2025" b="1">
              <a:solidFill>
                <a:srgbClr val="101114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3105150"/>
            <a:ext cx="781050" cy="38100"/>
          </a:xfrm>
          <a:prstGeom prst="rect">
            <a:avLst/>
          </a:prstGeom>
          <a:solidFill>
            <a:srgbClr val="25C78A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3381375"/>
            <a:ext cx="260985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连续文字对话</a:t>
            </a:r>
            <a:endParaRPr sz="1500" b="0">
              <a:solidFill>
                <a:srgbClr val="14253D"/>
              </a:solidFill>
            </a:endParaRPr>
          </a:p>
          <a:p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图片识别与生成</a:t>
            </a:r>
            <a:endParaRPr sz="1500" b="0">
              <a:solidFill>
                <a:srgbClr val="14253D"/>
              </a:solidFill>
            </a:endParaRPr>
          </a:p>
          <a:p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语音识别与 MP3 回复</a:t>
            </a:r>
            <a:endParaRPr sz="1500" b="0">
              <a:solidFill>
                <a:srgbClr val="14253D"/>
              </a:solidFill>
            </a:endParaRPr>
          </a:p>
          <a:p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超限与异常媒体提示</a:t>
            </a:r>
            <a:endParaRPr sz="1500" b="0">
              <a:solidFill>
                <a:srgbClr val="14253D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210050" y="2038350"/>
            <a:ext cx="3143250" cy="3143250"/>
          </a:xfrm>
          <a:prstGeom prst="roundRect">
            <a:avLst>
              <a:gd name="adj" fmla="val 3636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4438650" y="1714500"/>
            <a:ext cx="552450" cy="5524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438650" y="1819275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476750" y="2524125"/>
            <a:ext cx="2609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025" b="1">
                <a:solidFill>
                  <a:srgbClr val="101114"/>
                </a:solidFill>
              </a:defRPr>
            </a:pPr>
            <a:r>
              <a:rPr sz="2025" b="1">
                <a:solidFill>
                  <a:srgbClr val="101114"/>
                </a:solidFill>
              </a:rPr>
              <a:t>可信信息</a:t>
            </a:r>
            <a:endParaRPr sz="2025" b="1">
              <a:solidFill>
                <a:srgbClr val="101114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476750" y="3105150"/>
            <a:ext cx="781050" cy="381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476750" y="3381375"/>
            <a:ext cx="260985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高德实时与三日天气</a:t>
            </a:r>
            <a:endParaRPr sz="1500" b="0">
              <a:solidFill>
                <a:srgbClr val="14253D"/>
              </a:solidFill>
            </a:endParaRPr>
          </a:p>
          <a:p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项目 FAQ 与校园知识 RAG</a:t>
            </a:r>
            <a:endParaRPr sz="1500" b="0">
              <a:solidFill>
                <a:srgbClr val="14253D"/>
              </a:solidFill>
            </a:endParaRPr>
          </a:p>
          <a:p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每用户独立上下文</a:t>
            </a:r>
            <a:endParaRPr sz="1500" b="0">
              <a:solidFill>
                <a:srgbClr val="14253D"/>
              </a:solidFill>
            </a:endParaRPr>
          </a:p>
          <a:p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固定模板避免事实编造</a:t>
            </a:r>
            <a:endParaRPr sz="1500" b="0">
              <a:solidFill>
                <a:srgbClr val="14253D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886700" y="2038350"/>
            <a:ext cx="3143250" cy="3143250"/>
          </a:xfrm>
          <a:prstGeom prst="roundRect">
            <a:avLst>
              <a:gd name="adj" fmla="val 3636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8115300" y="1714500"/>
            <a:ext cx="552450" cy="55245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15300" y="1819275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153400" y="2524125"/>
            <a:ext cx="2609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025" b="1">
                <a:solidFill>
                  <a:srgbClr val="101114"/>
                </a:solidFill>
              </a:defRPr>
            </a:pPr>
            <a:r>
              <a:rPr sz="2025" b="1">
                <a:solidFill>
                  <a:srgbClr val="101114"/>
                </a:solidFill>
              </a:rPr>
              <a:t>行动与交付</a:t>
            </a:r>
            <a:endParaRPr sz="2025" b="1">
              <a:solidFill>
                <a:srgbClr val="101114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53400" y="3105150"/>
            <a:ext cx="781050" cy="381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153400" y="3381375"/>
            <a:ext cx="260985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10 个本地工具</a:t>
            </a:r>
            <a:endParaRPr sz="1500" b="0">
              <a:solidFill>
                <a:srgbClr val="14253D"/>
              </a:solidFill>
            </a:endParaRPr>
          </a:p>
          <a:p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5 个可注册 Skill</a:t>
            </a:r>
            <a:endParaRPr sz="1500" b="0">
              <a:solidFill>
                <a:srgbClr val="14253D"/>
              </a:solidFill>
            </a:endParaRPr>
          </a:p>
          <a:p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串行 / 并行多工具</a:t>
            </a:r>
            <a:endParaRPr sz="1500" b="0">
              <a:solidFill>
                <a:srgbClr val="14253D"/>
              </a:solidFill>
            </a:endParaRPr>
          </a:p>
          <a:p>
            <a:pPr algn="l">
              <a:defRPr sz="1500" b="0">
                <a:solidFill>
                  <a:srgbClr val="14253D"/>
                </a:solidFill>
              </a:defRPr>
            </a:pPr>
            <a:r>
              <a:rPr sz="1500" b="0">
                <a:solidFill>
                  <a:srgbClr val="14253D"/>
                </a:solidFill>
              </a:rPr>
              <a:t>结果页面与真实二维码</a:t>
            </a:r>
            <a:endParaRPr sz="1500" b="0">
              <a:solidFill>
                <a:srgbClr val="1425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533400" y="2857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619"/>
          </a:bodyPr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  <a:endParaRPr sz="1050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6477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Tool、Skill、RAG 分工明确，组合后更智能</a:t>
            </a:r>
            <a:endParaRPr sz="3000" b="1">
              <a:solidFill>
                <a:srgbClr val="10111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3809"/>
          </a:bodyPr>
          <a:lstStyle/>
          <a:p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06</a:t>
            </a:r>
            <a:endParaRPr sz="1050" b="0">
              <a:solidFill>
                <a:srgbClr val="60656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180975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611"/>
          </a:bodyPr>
          <a:lstStyle/>
          <a:p>
            <a:pPr algn="l">
              <a:defRPr sz="1800" b="1">
                <a:solidFill>
                  <a:srgbClr val="101114"/>
                </a:solidFill>
              </a:defRPr>
            </a:pPr>
            <a:r>
              <a:rPr sz="1800" b="1">
                <a:solidFill>
                  <a:srgbClr val="101114"/>
                </a:solidFill>
              </a:rPr>
              <a:t>用户消息</a:t>
            </a:r>
            <a:endParaRPr sz="1800" b="1">
              <a:solidFill>
                <a:srgbClr val="101114"/>
              </a:solidFill>
            </a:endParaRPr>
          </a:p>
        </p:txBody>
      </p:sp>
      <p:sp>
        <p:nvSpPr>
          <p:cNvPr id="5" name="右箭头 4"/>
          <p:cNvSpPr>
            <a:spLocks noGrp="1"/>
          </p:cNvSpPr>
          <p:nvPr/>
        </p:nvSpPr>
        <p:spPr>
          <a:xfrm>
            <a:off x="2095500" y="1866900"/>
            <a:ext cx="857250" cy="247650"/>
          </a:xfrm>
          <a:prstGeom prst="rightArrow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3105150" y="180975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611"/>
          </a:bodyPr>
          <a:lstStyle/>
          <a:p>
            <a:pPr algn="l">
              <a:defRPr sz="1800" b="1">
                <a:solidFill>
                  <a:srgbClr val="101114"/>
                </a:solidFill>
              </a:defRPr>
            </a:pPr>
            <a:r>
              <a:rPr sz="1800" b="1">
                <a:solidFill>
                  <a:srgbClr val="101114"/>
                </a:solidFill>
              </a:rPr>
              <a:t>统一路由</a:t>
            </a:r>
            <a:endParaRPr sz="1800" b="1">
              <a:solidFill>
                <a:srgbClr val="101114"/>
              </a:solidFill>
            </a:endParaRPr>
          </a:p>
        </p:txBody>
      </p:sp>
      <p:sp>
        <p:nvSpPr>
          <p:cNvPr id="7" name="右箭头 6"/>
          <p:cNvSpPr>
            <a:spLocks noGrp="1"/>
          </p:cNvSpPr>
          <p:nvPr/>
        </p:nvSpPr>
        <p:spPr>
          <a:xfrm>
            <a:off x="4533900" y="1866900"/>
            <a:ext cx="857250" cy="247650"/>
          </a:xfrm>
          <a:prstGeom prst="rightArrow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600700" y="1809750"/>
            <a:ext cx="533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611"/>
          </a:bodyPr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按意图选择最短、最可靠的执行路径</a:t>
            </a:r>
            <a:endParaRPr sz="1800" b="1">
              <a:solidFill>
                <a:srgbClr val="3D8D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33400" y="2609850"/>
            <a:ext cx="3143250" cy="28575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2857500"/>
            <a:ext cx="114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118"/>
          </a:bodyPr>
          <a:lstStyle/>
          <a:p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Tool</a:t>
            </a:r>
            <a:endParaRPr sz="2550" b="1">
              <a:solidFill>
                <a:srgbClr val="3D8D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962150" y="298132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444"/>
          </a:bodyPr>
          <a:lstStyle/>
          <a:p>
            <a:pPr algn="r">
              <a:defRPr sz="1350" b="1">
                <a:solidFill>
                  <a:srgbClr val="60656F"/>
                </a:solidFill>
              </a:defRPr>
            </a:pPr>
            <a:r>
              <a:rPr sz="1350" b="1">
                <a:solidFill>
                  <a:srgbClr val="60656F"/>
                </a:solidFill>
              </a:rPr>
              <a:t>原子动作</a:t>
            </a:r>
            <a:endParaRPr sz="1350" b="1">
              <a:solidFill>
                <a:srgbClr val="60656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3448050"/>
            <a:ext cx="26479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3676650"/>
            <a:ext cx="26479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计算、天气、时间、待办、图片、二维码、结果页</a:t>
            </a:r>
            <a:endParaRPr sz="1350" b="0">
              <a:solidFill>
                <a:srgbClr val="14253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由模型通过 JSON Schema 选择，本地白名单校验后执行。</a:t>
            </a:r>
            <a:endParaRPr sz="1350" b="0">
              <a:solidFill>
                <a:srgbClr val="14253D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50101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例：计算 125×36</a:t>
            </a:r>
            <a:endParaRPr sz="1275" b="1">
              <a:solidFill>
                <a:srgbClr val="3D8DFF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210050" y="2609850"/>
            <a:ext cx="3143250" cy="28575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457700" y="2857500"/>
            <a:ext cx="114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118"/>
          </a:bodyPr>
          <a:lstStyle/>
          <a:p>
            <a:pPr algn="l">
              <a:defRPr sz="2550" b="1">
                <a:solidFill>
                  <a:srgbClr val="25C78A"/>
                </a:solidFill>
              </a:defRPr>
            </a:pPr>
            <a:r>
              <a:rPr sz="2550" b="1">
                <a:solidFill>
                  <a:srgbClr val="25C78A"/>
                </a:solidFill>
              </a:rPr>
              <a:t>Skill</a:t>
            </a:r>
            <a:endParaRPr sz="2550" b="1">
              <a:solidFill>
                <a:srgbClr val="25C78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638800" y="298132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444"/>
          </a:bodyPr>
          <a:lstStyle/>
          <a:p>
            <a:pPr algn="r">
              <a:defRPr sz="1350" b="1">
                <a:solidFill>
                  <a:srgbClr val="60656F"/>
                </a:solidFill>
              </a:defRPr>
            </a:pPr>
            <a:r>
              <a:rPr sz="1350" b="1">
                <a:solidFill>
                  <a:srgbClr val="60656F"/>
                </a:solidFill>
              </a:rPr>
              <a:t>可复用业务流程</a:t>
            </a:r>
            <a:endParaRPr sz="1350" b="1">
              <a:solidFill>
                <a:srgbClr val="60656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457700" y="3448050"/>
            <a:ext cx="26479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457700" y="3676650"/>
            <a:ext cx="26479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增肌饮食、运动健康、冷笑话、快速计算、JSON 格式化</a:t>
            </a:r>
            <a:endParaRPr sz="1350" b="0">
              <a:solidFill>
                <a:srgbClr val="14253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明确关键词优先命中，减少无效模型调用。</a:t>
            </a:r>
            <a:endParaRPr sz="1350" b="0">
              <a:solidFill>
                <a:srgbClr val="14253D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57700" y="50101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1">
                <a:solidFill>
                  <a:srgbClr val="25C78A"/>
                </a:solidFill>
              </a:defRPr>
            </a:pPr>
            <a:r>
              <a:rPr sz="1275" b="1">
                <a:solidFill>
                  <a:srgbClr val="25C78A"/>
                </a:solidFill>
              </a:rPr>
              <a:t>例：制定增肌饮食计划</a:t>
            </a:r>
            <a:endParaRPr sz="1275" b="1">
              <a:solidFill>
                <a:srgbClr val="25C78A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886700" y="2609850"/>
            <a:ext cx="3143250" cy="28575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134350" y="2857500"/>
            <a:ext cx="114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118"/>
          </a:bodyPr>
          <a:lstStyle/>
          <a:p>
            <a:pPr algn="l">
              <a:defRPr sz="2550" b="1">
                <a:solidFill>
                  <a:srgbClr val="6DCBF4"/>
                </a:solidFill>
              </a:defRPr>
            </a:pPr>
            <a:r>
              <a:rPr sz="2550" b="1">
                <a:solidFill>
                  <a:srgbClr val="6DCBF4"/>
                </a:solidFill>
              </a:rPr>
              <a:t>RAG</a:t>
            </a:r>
            <a:endParaRPr sz="2550" b="1">
              <a:solidFill>
                <a:srgbClr val="6DCBF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315450" y="298132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444"/>
          </a:bodyPr>
          <a:lstStyle/>
          <a:p>
            <a:pPr algn="r">
              <a:defRPr sz="1350" b="1">
                <a:solidFill>
                  <a:srgbClr val="60656F"/>
                </a:solidFill>
              </a:defRPr>
            </a:pPr>
            <a:r>
              <a:rPr sz="1350" b="1">
                <a:solidFill>
                  <a:srgbClr val="60656F"/>
                </a:solidFill>
              </a:rPr>
              <a:t>可信知识上下文</a:t>
            </a:r>
            <a:endParaRPr sz="1350" b="1">
              <a:solidFill>
                <a:srgbClr val="60656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134350" y="3448050"/>
            <a:ext cx="26479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134350" y="3676650"/>
            <a:ext cx="26479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431"/>
          </a:bodyPr>
          <a:lstStyle/>
          <a:p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项目 FAQ、技术资料、健康知识、河南师范大学资料</a:t>
            </a:r>
            <a:endParaRPr sz="1350" b="0">
              <a:solidFill>
                <a:srgbClr val="14253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先检索最相关内容，再增强 Prompt。</a:t>
            </a:r>
            <a:endParaRPr sz="1350" b="0">
              <a:solidFill>
                <a:srgbClr val="14253D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134350" y="50101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1">
                <a:solidFill>
                  <a:srgbClr val="6DCBF4"/>
                </a:solidFill>
              </a:defRPr>
            </a:pPr>
            <a:r>
              <a:rPr sz="1275" b="1">
                <a:solidFill>
                  <a:srgbClr val="6DCBF4"/>
                </a:solidFill>
              </a:rPr>
              <a:t>例：API Key 在哪里配置</a:t>
            </a:r>
            <a:endParaRPr sz="1275" b="1">
              <a:solidFill>
                <a:srgbClr val="6DCBF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533400" y="2857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619"/>
          </a:bodyPr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  <a:endParaRPr sz="1050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6477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一个最终目标会被自动拆成 12 个可追踪步骤</a:t>
            </a:r>
            <a:endParaRPr sz="3000" b="1">
              <a:solidFill>
                <a:srgbClr val="10111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3809"/>
          </a:bodyPr>
          <a:lstStyle/>
          <a:p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07</a:t>
            </a:r>
            <a:endParaRPr sz="1050" b="0">
              <a:solidFill>
                <a:srgbClr val="60656F"/>
              </a:solidFill>
            </a:endParaRPr>
          </a:p>
        </p:txBody>
      </p:sp>
      <p:sp>
        <p:nvSpPr>
          <p:cNvPr id="4" name="右箭头 3"/>
          <p:cNvSpPr>
            <a:spLocks noGrp="1"/>
          </p:cNvSpPr>
          <p:nvPr/>
        </p:nvSpPr>
        <p:spPr>
          <a:xfrm>
            <a:off x="3009900" y="3524250"/>
            <a:ext cx="400050" cy="24765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右箭头 4"/>
          <p:cNvSpPr>
            <a:spLocks noGrp="1"/>
          </p:cNvSpPr>
          <p:nvPr/>
        </p:nvSpPr>
        <p:spPr>
          <a:xfrm>
            <a:off x="6496050" y="3524250"/>
            <a:ext cx="400050" cy="247650"/>
          </a:xfrm>
          <a:prstGeom prst="rightArrow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33400" y="2000250"/>
            <a:ext cx="2552700" cy="3333750"/>
          </a:xfrm>
          <a:prstGeom prst="roundRect">
            <a:avLst>
              <a:gd name="adj" fmla="val 4478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781050" y="2286000"/>
            <a:ext cx="1714500" cy="323850"/>
          </a:xfrm>
          <a:prstGeom prst="roundRect">
            <a:avLst>
              <a:gd name="adj" fmla="val 50000"/>
            </a:avLst>
          </a:prstGeom>
          <a:solidFill>
            <a:srgbClr val="25C78A"/>
          </a:solidFill>
          <a:ln w="0">
            <a:noFill/>
            <a:prstDash val="solid"/>
          </a:ln>
        </p:spPr>
        <p:txBody>
          <a:bodyPr anchor="ctr">
            <a:normAutofit fontScale="75217"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理解目标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3048000"/>
            <a:ext cx="20193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75" b="0">
                <a:solidFill>
                  <a:srgbClr val="14253D"/>
                </a:solidFill>
              </a:defRPr>
            </a:pPr>
            <a:r>
              <a:rPr sz="1575" b="0">
                <a:solidFill>
                  <a:srgbClr val="14253D"/>
                </a:solidFill>
              </a:rPr>
              <a:t>01 解析自然语言</a:t>
            </a:r>
            <a:endParaRPr sz="1575" b="0">
              <a:solidFill>
                <a:srgbClr val="14253D"/>
              </a:solidFill>
            </a:endParaRPr>
          </a:p>
          <a:p>
            <a:pPr algn="l">
              <a:defRPr sz="1575" b="0">
                <a:solidFill>
                  <a:srgbClr val="14253D"/>
                </a:solidFill>
              </a:defRPr>
            </a:pPr>
            <a:r>
              <a:rPr sz="1575" b="0">
                <a:solidFill>
                  <a:srgbClr val="14253D"/>
                </a:solidFill>
              </a:rPr>
              <a:t>02 校验完整性与安全边界</a:t>
            </a:r>
            <a:endParaRPr sz="1575" b="0">
              <a:solidFill>
                <a:srgbClr val="14253D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333750" y="2000250"/>
            <a:ext cx="3238500" cy="3333750"/>
          </a:xfrm>
          <a:prstGeom prst="roundRect">
            <a:avLst>
              <a:gd name="adj" fmla="val 3529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3581400" y="2286000"/>
            <a:ext cx="1714500" cy="323850"/>
          </a:xfrm>
          <a:prstGeom prst="roundRect">
            <a:avLst>
              <a:gd name="adj" fmla="val 50000"/>
            </a:avLst>
          </a:prstGeom>
          <a:solidFill>
            <a:srgbClr val="6DCBF4"/>
          </a:solidFill>
          <a:ln w="0">
            <a:noFill/>
            <a:prstDash val="solid"/>
          </a:ln>
        </p:spPr>
        <p:txBody>
          <a:bodyPr anchor="ctr">
            <a:normAutofit fontScale="75217"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并行获取依据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600450" y="3048000"/>
            <a:ext cx="27051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75" b="0">
                <a:solidFill>
                  <a:srgbClr val="14253D"/>
                </a:solidFill>
              </a:defRPr>
            </a:pPr>
            <a:r>
              <a:rPr sz="1575" b="0">
                <a:solidFill>
                  <a:srgbClr val="14253D"/>
                </a:solidFill>
              </a:rPr>
              <a:t>03 检索健康 RAG</a:t>
            </a:r>
            <a:endParaRPr sz="1575" b="0">
              <a:solidFill>
                <a:srgbClr val="14253D"/>
              </a:solidFill>
            </a:endParaRPr>
          </a:p>
          <a:p>
            <a:pPr algn="l">
              <a:defRPr sz="1575" b="0">
                <a:solidFill>
                  <a:srgbClr val="14253D"/>
                </a:solidFill>
              </a:defRPr>
            </a:pPr>
            <a:r>
              <a:rPr sz="1575" b="0">
                <a:solidFill>
                  <a:srgbClr val="14253D"/>
                </a:solidFill>
              </a:rPr>
              <a:t>04 查询三日天气</a:t>
            </a:r>
            <a:endParaRPr sz="1575" b="0">
              <a:solidFill>
                <a:srgbClr val="14253D"/>
              </a:solidFill>
            </a:endParaRPr>
          </a:p>
          <a:p>
            <a:pPr algn="l">
              <a:defRPr sz="1575" b="0">
                <a:solidFill>
                  <a:srgbClr val="14253D"/>
                </a:solidFill>
              </a:defRPr>
            </a:pPr>
            <a:r>
              <a:rPr sz="1575" b="0">
                <a:solidFill>
                  <a:srgbClr val="14253D"/>
                </a:solidFill>
              </a:rPr>
              <a:t>05 计算营养目标</a:t>
            </a:r>
            <a:endParaRPr sz="1575" b="0">
              <a:solidFill>
                <a:srgbClr val="14253D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819900" y="2000250"/>
            <a:ext cx="4838700" cy="3333750"/>
          </a:xfrm>
          <a:prstGeom prst="roundRect">
            <a:avLst>
              <a:gd name="adj" fmla="val 3429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67550" y="2286000"/>
            <a:ext cx="1714500" cy="323850"/>
          </a:xfrm>
          <a:prstGeom prst="roundRect">
            <a:avLst>
              <a:gd name="adj" fmla="val 50000"/>
            </a:avLst>
          </a:prstGeom>
          <a:solidFill>
            <a:srgbClr val="3D8DFF"/>
          </a:solidFill>
          <a:ln w="0">
            <a:noFill/>
            <a:prstDash val="solid"/>
          </a:ln>
        </p:spPr>
        <p:txBody>
          <a:bodyPr anchor="ctr">
            <a:normAutofit fontScale="75217"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串行生成与交付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086600" y="3048000"/>
            <a:ext cx="43053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75" b="0">
                <a:solidFill>
                  <a:srgbClr val="14253D"/>
                </a:solidFill>
              </a:defRPr>
            </a:pPr>
            <a:r>
              <a:rPr sz="1575" b="0">
                <a:solidFill>
                  <a:srgbClr val="14253D"/>
                </a:solidFill>
              </a:rPr>
              <a:t>06 生成运动方案   07 生成餐单</a:t>
            </a:r>
            <a:endParaRPr sz="1575" b="0">
              <a:solidFill>
                <a:srgbClr val="14253D"/>
              </a:solidFill>
            </a:endParaRPr>
          </a:p>
          <a:p>
            <a:pPr algn="l">
              <a:defRPr sz="1575" b="0">
                <a:solidFill>
                  <a:srgbClr val="14253D"/>
                </a:solidFill>
              </a:defRPr>
            </a:pPr>
            <a:r>
              <a:rPr sz="1575" b="0">
                <a:solidFill>
                  <a:srgbClr val="14253D"/>
                </a:solidFill>
              </a:rPr>
              <a:t>08 组装七日计划   09 完整性评估</a:t>
            </a:r>
            <a:endParaRPr sz="1575" b="0">
              <a:solidFill>
                <a:srgbClr val="14253D"/>
              </a:solidFill>
            </a:endParaRPr>
          </a:p>
          <a:p>
            <a:pPr algn="l">
              <a:defRPr sz="1575" b="0">
                <a:solidFill>
                  <a:srgbClr val="14253D"/>
                </a:solidFill>
              </a:defRPr>
            </a:pPr>
            <a:r>
              <a:rPr sz="1575" b="0">
                <a:solidFill>
                  <a:srgbClr val="14253D"/>
                </a:solidFill>
              </a:rPr>
              <a:t>10 可选封面   11 结果页面   12 二维码</a:t>
            </a:r>
            <a:endParaRPr sz="1575" b="0">
              <a:solidFill>
                <a:srgbClr val="14253D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3400" y="571500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独立步骤并行，依赖步骤串行；每一步都有状态、重试次数和可复用输出。</a:t>
            </a:r>
            <a:endParaRPr sz="1650" b="1">
              <a:solidFill>
                <a:srgbClr val="3D8D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533400" y="2857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619"/>
          </a:bodyPr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  <a:endParaRPr sz="1050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6477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速度、成本和稳定性被纳入同一套设计</a:t>
            </a:r>
            <a:endParaRPr sz="3000" b="1">
              <a:solidFill>
                <a:srgbClr val="10111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3809"/>
          </a:bodyPr>
          <a:lstStyle/>
          <a:p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08</a:t>
            </a:r>
            <a:endParaRPr sz="1050" b="0">
              <a:solidFill>
                <a:srgbClr val="60656F"/>
              </a:solidFill>
            </a:endParaRPr>
          </a:p>
        </p:txBody>
      </p:sp>
      <p:sp>
        <p:nvSpPr>
          <p:cNvPr id="4" name="椭圆 3"/>
          <p:cNvSpPr>
            <a:spLocks noGrp="1"/>
          </p:cNvSpPr>
          <p:nvPr/>
        </p:nvSpPr>
        <p:spPr>
          <a:xfrm>
            <a:off x="571500" y="1809750"/>
            <a:ext cx="609600" cy="6096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905000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快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466850" y="180975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667"/>
          </a:bodyPr>
          <a:lstStyle/>
          <a:p>
            <a:pPr algn="l"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并行执行 + 短期缓存</a:t>
            </a:r>
            <a:endParaRPr sz="1875" b="1">
              <a:solidFill>
                <a:srgbClr val="101114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66850" y="2219325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天气、RAG、营养并行；相同天气与检索结果按 TTL 复用。</a:t>
            </a:r>
            <a:endParaRPr sz="1350" b="0">
              <a:solidFill>
                <a:srgbClr val="60656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66850" y="2695575"/>
            <a:ext cx="96202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571500" y="2857500"/>
            <a:ext cx="609600" cy="609600"/>
          </a:xfrm>
          <a:prstGeom prst="ellipse">
            <a:avLst/>
          </a:prstGeom>
          <a:solidFill>
            <a:srgbClr val="25C78A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71500" y="2952750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省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66850" y="28575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667"/>
          </a:bodyPr>
          <a:lstStyle/>
          <a:p>
            <a:pPr algn="l"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本地规则 + Prompt 压缩</a:t>
            </a:r>
            <a:endParaRPr sz="1875" b="1">
              <a:solidFill>
                <a:srgbClr val="101114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466850" y="3267075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确定意图、身体资料和固定模板不重复消耗模型 Token。</a:t>
            </a:r>
            <a:endParaRPr sz="1350" b="0">
              <a:solidFill>
                <a:srgbClr val="60656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466850" y="3743325"/>
            <a:ext cx="96202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571500" y="3905250"/>
            <a:ext cx="609600" cy="609600"/>
          </a:xfrm>
          <a:prstGeom prst="ellipse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71500" y="4000500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稳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466850" y="390525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667"/>
          </a:bodyPr>
          <a:lstStyle/>
          <a:p>
            <a:pPr algn="l"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重试、备用模型与降级</a:t>
            </a:r>
            <a:endParaRPr sz="1875" b="1">
              <a:solidFill>
                <a:srgbClr val="101114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466850" y="4314825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聊天与视觉模型自动回退；天气、TTS、封面失败不阻断主流程。</a:t>
            </a:r>
            <a:endParaRPr sz="1350" b="0">
              <a:solidFill>
                <a:srgbClr val="60656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466850" y="4791075"/>
            <a:ext cx="96202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椭圆 18"/>
          <p:cNvSpPr>
            <a:spLocks noGrp="1"/>
          </p:cNvSpPr>
          <p:nvPr/>
        </p:nvSpPr>
        <p:spPr>
          <a:xfrm>
            <a:off x="571500" y="4953000"/>
            <a:ext cx="609600" cy="609600"/>
          </a:xfrm>
          <a:prstGeom prst="ellipse">
            <a:avLst/>
          </a:prstGeom>
          <a:solidFill>
            <a:srgbClr val="14253D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71500" y="5048250"/>
            <a:ext cx="60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续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466850" y="49530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667"/>
          </a:bodyPr>
          <a:lstStyle/>
          <a:p>
            <a:pPr algn="l"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SQLite 断点与提醒持久化</a:t>
            </a:r>
            <a:endParaRPr sz="1875" b="1">
              <a:solidFill>
                <a:srgbClr val="101114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466850" y="5362575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成功步骤保存；重启后可继续任务并恢复每日健康提醒。</a:t>
            </a:r>
            <a:endParaRPr sz="1350" b="0">
              <a:solidFill>
                <a:srgbClr val="60656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466850" y="5838825"/>
            <a:ext cx="96202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9334500" y="1790700"/>
            <a:ext cx="2190750" cy="3562350"/>
          </a:xfrm>
          <a:prstGeom prst="roundRect">
            <a:avLst>
              <a:gd name="adj" fmla="val 5217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582150" y="209550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611"/>
          </a:bodyPr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结果</a:t>
            </a:r>
            <a:endParaRPr sz="1800" b="1">
              <a:solidFill>
                <a:srgbClr val="3D8D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582150" y="2724150"/>
            <a:ext cx="1714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725" b="1">
                <a:solidFill>
                  <a:srgbClr val="14253D"/>
                </a:solidFill>
              </a:defRPr>
            </a:pPr>
            <a:r>
              <a:rPr sz="1725" b="1">
                <a:solidFill>
                  <a:srgbClr val="14253D"/>
                </a:solidFill>
              </a:rPr>
              <a:t>更少等待</a:t>
            </a:r>
            <a:endParaRPr sz="1725" b="1">
              <a:solidFill>
                <a:srgbClr val="14253D"/>
              </a:solidFill>
            </a:endParaRPr>
          </a:p>
          <a:p>
            <a:pPr algn="l">
              <a:defRPr sz="1725" b="1">
                <a:solidFill>
                  <a:srgbClr val="14253D"/>
                </a:solidFill>
              </a:defRPr>
            </a:pPr>
            <a:r>
              <a:rPr sz="1725" b="1">
                <a:solidFill>
                  <a:srgbClr val="14253D"/>
                </a:solidFill>
              </a:rPr>
              <a:t>更少重复调用</a:t>
            </a:r>
            <a:endParaRPr sz="1725" b="1">
              <a:solidFill>
                <a:srgbClr val="14253D"/>
              </a:solidFill>
            </a:endParaRPr>
          </a:p>
          <a:p>
            <a:pPr algn="l">
              <a:defRPr sz="1725" b="1">
                <a:solidFill>
                  <a:srgbClr val="14253D"/>
                </a:solidFill>
              </a:defRPr>
            </a:pPr>
            <a:r>
              <a:rPr sz="1725" b="1">
                <a:solidFill>
                  <a:srgbClr val="14253D"/>
                </a:solidFill>
              </a:rPr>
              <a:t>外部服务失败可降级</a:t>
            </a:r>
            <a:endParaRPr sz="1725" b="1">
              <a:solidFill>
                <a:srgbClr val="14253D"/>
              </a:solidFill>
            </a:endParaRPr>
          </a:p>
          <a:p>
            <a:pPr algn="l">
              <a:defRPr sz="1725" b="1">
                <a:solidFill>
                  <a:srgbClr val="14253D"/>
                </a:solidFill>
              </a:defRPr>
            </a:pPr>
            <a:r>
              <a:rPr sz="1725" b="1">
                <a:solidFill>
                  <a:srgbClr val="14253D"/>
                </a:solidFill>
              </a:rPr>
              <a:t>程序重启仍可恢复</a:t>
            </a:r>
            <a:endParaRPr sz="1725" b="1">
              <a:solidFill>
                <a:srgbClr val="14253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533400" y="2857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619"/>
          </a:bodyPr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  <a:endParaRPr sz="1050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6477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现场演示：一句话触发完整健康规划闭环</a:t>
            </a:r>
            <a:endParaRPr sz="3000" b="1">
              <a:solidFill>
                <a:srgbClr val="10111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3809"/>
          </a:bodyPr>
          <a:lstStyle/>
          <a:p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09</a:t>
            </a:r>
            <a:endParaRPr sz="1050" b="0">
              <a:solidFill>
                <a:srgbClr val="60656F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33400" y="1714500"/>
            <a:ext cx="5095875" cy="3714750"/>
          </a:xfrm>
          <a:prstGeom prst="roundRect">
            <a:avLst>
              <a:gd name="adj" fmla="val 3077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19150" y="20002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2424"/>
          </a:bodyPr>
          <a:lstStyle/>
          <a:p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演示输入</a:t>
            </a:r>
            <a:endParaRPr sz="1650" b="1">
              <a:solidFill>
                <a:srgbClr val="3D8D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2571750"/>
            <a:ext cx="447675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800" b="1">
                <a:solidFill>
                  <a:srgbClr val="14253D"/>
                </a:solidFill>
              </a:defRPr>
            </a:pPr>
            <a:r>
              <a:rPr sz="1800" b="1">
                <a:solidFill>
                  <a:srgbClr val="14253D"/>
                </a:solidFill>
              </a:rPr>
              <a:t>帮我制定未来 7 天完整增肌健康生活方案。性别男，20 岁，175 cm，70 kg，住在宜春市袁州区，每周训练 4 次，每次 60 分钟，每天 4 餐，健康成人、无食物过敏，最后生成结果页面和二维码。</a:t>
            </a:r>
            <a:endParaRPr sz="1800" b="1">
              <a:solidFill>
                <a:srgbClr val="14253D"/>
              </a:solidFill>
            </a:endParaRPr>
          </a:p>
        </p:txBody>
      </p:sp>
      <p:sp>
        <p:nvSpPr>
          <p:cNvPr id="7" name="右箭头 6"/>
          <p:cNvSpPr>
            <a:spLocks noGrp="1"/>
          </p:cNvSpPr>
          <p:nvPr/>
        </p:nvSpPr>
        <p:spPr>
          <a:xfrm>
            <a:off x="5772150" y="3429000"/>
            <a:ext cx="552450" cy="285750"/>
          </a:xfrm>
          <a:prstGeom prst="rightArrow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667500" y="186690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最终交付</a:t>
            </a:r>
            <a:endParaRPr sz="1950" b="1">
              <a:solidFill>
                <a:srgbClr val="101114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0" y="25527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00" b="1">
                <a:solidFill>
                  <a:srgbClr val="25C78A"/>
                </a:solidFill>
              </a:defRPr>
            </a:pPr>
            <a:r>
              <a:rPr sz="1500" b="1">
                <a:solidFill>
                  <a:srgbClr val="25C78A"/>
                </a:solidFill>
              </a:rPr>
              <a:t>01</a:t>
            </a:r>
            <a:endParaRPr sz="1500" b="1">
              <a:solidFill>
                <a:srgbClr val="25C78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0" y="25146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889"/>
          </a:bodyPr>
          <a:lstStyle/>
          <a:p>
            <a:pPr algn="l">
              <a:defRPr sz="1575" b="1">
                <a:solidFill>
                  <a:srgbClr val="101114"/>
                </a:solidFill>
              </a:defRPr>
            </a:pPr>
            <a:r>
              <a:rPr sz="1575" b="1">
                <a:solidFill>
                  <a:srgbClr val="101114"/>
                </a:solidFill>
              </a:rPr>
              <a:t>七日计划</a:t>
            </a:r>
            <a:endParaRPr sz="1575" b="1">
              <a:solidFill>
                <a:srgbClr val="101114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39000" y="284797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每日饮食、训练与恢复安排</a:t>
            </a:r>
            <a:endParaRPr sz="1275" b="0">
              <a:solidFill>
                <a:srgbClr val="60656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67500" y="32575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00" b="1">
                <a:solidFill>
                  <a:srgbClr val="25C78A"/>
                </a:solidFill>
              </a:defRPr>
            </a:pPr>
            <a:r>
              <a:rPr sz="1500" b="1">
                <a:solidFill>
                  <a:srgbClr val="25C78A"/>
                </a:solidFill>
              </a:rPr>
              <a:t>02</a:t>
            </a:r>
            <a:endParaRPr sz="1500" b="1">
              <a:solidFill>
                <a:srgbClr val="25C78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239000" y="321945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889"/>
          </a:bodyPr>
          <a:lstStyle/>
          <a:p>
            <a:pPr algn="l">
              <a:defRPr sz="1575" b="1">
                <a:solidFill>
                  <a:srgbClr val="101114"/>
                </a:solidFill>
              </a:defRPr>
            </a:pPr>
            <a:r>
              <a:rPr sz="1575" b="1">
                <a:solidFill>
                  <a:srgbClr val="101114"/>
                </a:solidFill>
              </a:rPr>
              <a:t>真实依据</a:t>
            </a:r>
            <a:endParaRPr sz="1575" b="1">
              <a:solidFill>
                <a:srgbClr val="101114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239000" y="355282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天气、健康 RAG、营养估算</a:t>
            </a:r>
            <a:endParaRPr sz="1275" b="0">
              <a:solidFill>
                <a:srgbClr val="60656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667500" y="39624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00" b="1">
                <a:solidFill>
                  <a:srgbClr val="25C78A"/>
                </a:solidFill>
              </a:defRPr>
            </a:pPr>
            <a:r>
              <a:rPr sz="1500" b="1">
                <a:solidFill>
                  <a:srgbClr val="25C78A"/>
                </a:solidFill>
              </a:rPr>
              <a:t>03</a:t>
            </a:r>
            <a:endParaRPr sz="1500" b="1">
              <a:solidFill>
                <a:srgbClr val="25C78A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39000" y="39243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889"/>
          </a:bodyPr>
          <a:lstStyle/>
          <a:p>
            <a:pPr algn="l">
              <a:defRPr sz="1575" b="1">
                <a:solidFill>
                  <a:srgbClr val="101114"/>
                </a:solidFill>
              </a:defRPr>
            </a:pPr>
            <a:r>
              <a:rPr sz="1575" b="1">
                <a:solidFill>
                  <a:srgbClr val="101114"/>
                </a:solidFill>
              </a:rPr>
              <a:t>安全检查</a:t>
            </a:r>
            <a:endParaRPr sz="1575" b="1">
              <a:solidFill>
                <a:srgbClr val="101114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239000" y="425767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年龄范围、健康状况、过敏边界</a:t>
            </a:r>
            <a:endParaRPr sz="1275" b="0">
              <a:solidFill>
                <a:srgbClr val="60656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667500" y="46672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00" b="1">
                <a:solidFill>
                  <a:srgbClr val="25C78A"/>
                </a:solidFill>
              </a:defRPr>
            </a:pPr>
            <a:r>
              <a:rPr sz="1500" b="1">
                <a:solidFill>
                  <a:srgbClr val="25C78A"/>
                </a:solidFill>
              </a:rPr>
              <a:t>04</a:t>
            </a:r>
            <a:endParaRPr sz="1500" b="1">
              <a:solidFill>
                <a:srgbClr val="25C78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239000" y="462915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88889"/>
          </a:bodyPr>
          <a:lstStyle/>
          <a:p>
            <a:pPr algn="l">
              <a:defRPr sz="1575" b="1">
                <a:solidFill>
                  <a:srgbClr val="101114"/>
                </a:solidFill>
              </a:defRPr>
            </a:pPr>
            <a:r>
              <a:rPr sz="1575" b="1">
                <a:solidFill>
                  <a:srgbClr val="101114"/>
                </a:solidFill>
              </a:rPr>
              <a:t>可访问成品</a:t>
            </a:r>
            <a:endParaRPr sz="1575" b="1">
              <a:solidFill>
                <a:srgbClr val="101114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239000" y="496252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结果页面 + 手机可扫二维码</a:t>
            </a:r>
            <a:endParaRPr sz="1275" b="0">
              <a:solidFill>
                <a:srgbClr val="60656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67500" y="5572125"/>
            <a:ext cx="447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8611"/>
          </a:bodyPr>
          <a:lstStyle/>
          <a:p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一句目标 → 自动执行 → 完整成品</a:t>
            </a:r>
            <a:endParaRPr sz="1800" b="1">
              <a:solidFill>
                <a:srgbClr val="3D8D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533400" y="2857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619"/>
          </a:bodyPr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  <a:endParaRPr sz="1050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6477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功能扩展建立在可重复验证的工程基础上</a:t>
            </a:r>
            <a:endParaRPr sz="3000" b="1">
              <a:solidFill>
                <a:srgbClr val="10111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3809"/>
          </a:bodyPr>
          <a:lstStyle/>
          <a:p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10</a:t>
            </a:r>
            <a:endParaRPr sz="1050" b="0">
              <a:solidFill>
                <a:srgbClr val="60656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4287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75" b="0">
                <a:solidFill>
                  <a:srgbClr val="60656F"/>
                </a:solidFill>
              </a:defRPr>
            </a:pPr>
            <a:r>
              <a:rPr sz="1575" b="0">
                <a:solidFill>
                  <a:srgbClr val="60656F"/>
                </a:solidFill>
              </a:rPr>
              <a:t>Java 21 + Spring Boot 4.1 的模块化单体，共编译 126 个主源码文件；GitHub Actions 使用 Java 21 执行完整验证。</a:t>
            </a:r>
            <a:endParaRPr sz="1575" b="0">
              <a:solidFill>
                <a:srgbClr val="60656F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33400" y="2571750"/>
            <a:ext cx="3143250" cy="2667000"/>
          </a:xfrm>
          <a:prstGeom prst="roundRect">
            <a:avLst>
              <a:gd name="adj" fmla="val 4286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2905125"/>
            <a:ext cx="2571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4650" b="1">
                <a:solidFill>
                  <a:srgbClr val="3D8DFF"/>
                </a:solidFill>
              </a:defRPr>
            </a:pPr>
            <a:r>
              <a:rPr sz="4650" b="1">
                <a:solidFill>
                  <a:srgbClr val="3D8DFF"/>
                </a:solidFill>
              </a:rPr>
              <a:t>154</a:t>
            </a:r>
            <a:endParaRPr sz="4650" b="1">
              <a:solidFill>
                <a:srgbClr val="3D8D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4029075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667"/>
          </a:bodyPr>
          <a:lstStyle/>
          <a:p>
            <a:pPr algn="l"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自动化测试</a:t>
            </a:r>
            <a:endParaRPr sz="1875" b="1">
              <a:solidFill>
                <a:srgbClr val="101114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4543425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0 失败 · 0 错误</a:t>
            </a:r>
            <a:endParaRPr sz="1275" b="0">
              <a:solidFill>
                <a:srgbClr val="60656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210050" y="2571750"/>
            <a:ext cx="3143250" cy="2667000"/>
          </a:xfrm>
          <a:prstGeom prst="roundRect">
            <a:avLst>
              <a:gd name="adj" fmla="val 4286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495800" y="2905125"/>
            <a:ext cx="2571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4650" b="1">
                <a:solidFill>
                  <a:srgbClr val="25C78A"/>
                </a:solidFill>
              </a:defRPr>
            </a:pPr>
            <a:r>
              <a:rPr sz="4650" b="1">
                <a:solidFill>
                  <a:srgbClr val="25C78A"/>
                </a:solidFill>
              </a:rPr>
              <a:t>10</a:t>
            </a:r>
            <a:endParaRPr sz="4650" b="1">
              <a:solidFill>
                <a:srgbClr val="25C78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495800" y="4029075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667"/>
          </a:bodyPr>
          <a:lstStyle/>
          <a:p>
            <a:pPr algn="l"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本地 Tool</a:t>
            </a:r>
            <a:endParaRPr sz="1875" b="1">
              <a:solidFill>
                <a:srgbClr val="101114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495800" y="4543425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白名单 + JSON Schema</a:t>
            </a:r>
            <a:endParaRPr sz="1275" b="0">
              <a:solidFill>
                <a:srgbClr val="60656F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886700" y="2571750"/>
            <a:ext cx="3143250" cy="2667000"/>
          </a:xfrm>
          <a:prstGeom prst="roundRect">
            <a:avLst>
              <a:gd name="adj" fmla="val 4286"/>
            </a:avLst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172450" y="2905125"/>
            <a:ext cx="2571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4650" b="1">
                <a:solidFill>
                  <a:srgbClr val="6DCBF4"/>
                </a:solidFill>
              </a:defRPr>
            </a:pPr>
            <a:r>
              <a:rPr sz="4650" b="1">
                <a:solidFill>
                  <a:srgbClr val="6DCBF4"/>
                </a:solidFill>
              </a:rPr>
              <a:t>5</a:t>
            </a:r>
            <a:endParaRPr sz="4650" b="1">
              <a:solidFill>
                <a:srgbClr val="6DCBF4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172450" y="4029075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667"/>
          </a:bodyPr>
          <a:lstStyle/>
          <a:p>
            <a:pPr algn="l">
              <a:defRPr sz="1875" b="1">
                <a:solidFill>
                  <a:srgbClr val="101114"/>
                </a:solidFill>
              </a:defRPr>
            </a:pPr>
            <a:r>
              <a:rPr sz="1875" b="1">
                <a:solidFill>
                  <a:srgbClr val="101114"/>
                </a:solidFill>
              </a:rPr>
              <a:t>自定义 Skill</a:t>
            </a:r>
            <a:endParaRPr sz="1875" b="1">
              <a:solidFill>
                <a:srgbClr val="101114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72450" y="4543425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75" b="0">
                <a:solidFill>
                  <a:srgbClr val="60656F"/>
                </a:solidFill>
              </a:defRPr>
            </a:pPr>
            <a:r>
              <a:rPr sz="1275" b="0">
                <a:solidFill>
                  <a:srgbClr val="60656F"/>
                </a:solidFill>
              </a:rPr>
              <a:t>规则优先，可独立注册</a:t>
            </a:r>
            <a:endParaRPr sz="1275" b="0">
              <a:solidFill>
                <a:srgbClr val="60656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3400" y="5667375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00" b="1">
                <a:solidFill>
                  <a:srgbClr val="14253D"/>
                </a:solidFill>
              </a:defRPr>
            </a:pPr>
            <a:r>
              <a:rPr sz="1500" b="1">
                <a:solidFill>
                  <a:srgbClr val="14253D"/>
                </a:solidFill>
              </a:rPr>
              <a:t>另有 12 步 Agent 工作流、4 种健康目标、最多 5 轮 Function Calling 与每轮最多 4 个工具调用。</a:t>
            </a:r>
            <a:endParaRPr sz="1500" b="1">
              <a:solidFill>
                <a:srgbClr val="14253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533400" y="2857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7619"/>
          </a:bodyPr>
          <a:lstStyle/>
          <a:p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SUMMER CAMP PROJECT</a:t>
            </a:r>
            <a:endParaRPr sz="1050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647700"/>
            <a:ext cx="10668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3000" b="1">
                <a:solidFill>
                  <a:srgbClr val="101114"/>
                </a:solidFill>
              </a:defRPr>
            </a:pPr>
            <a:r>
              <a:rPr sz="3000" b="1">
                <a:solidFill>
                  <a:srgbClr val="101114"/>
                </a:solidFill>
              </a:rPr>
              <a:t>最大的困难来自真实系统之间的边界</a:t>
            </a:r>
            <a:endParaRPr sz="3000" b="1">
              <a:solidFill>
                <a:srgbClr val="10111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3809"/>
          </a:bodyPr>
          <a:lstStyle/>
          <a:p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11</a:t>
            </a:r>
            <a:endParaRPr sz="1050" b="0">
              <a:solidFill>
                <a:srgbClr val="60656F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33400" y="1571625"/>
            <a:ext cx="10668000" cy="514350"/>
          </a:xfrm>
          <a:prstGeom prst="roundRect">
            <a:avLst>
              <a:gd name="adj" fmla="val 0"/>
            </a:avLst>
          </a:prstGeom>
          <a:solidFill>
            <a:srgbClr val="10111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16764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444"/>
          </a:bodyPr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难点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333750" y="1676400"/>
            <a:ext cx="3667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444"/>
          </a:bodyPr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具体表现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0" y="16764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94444"/>
          </a:bodyPr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解决方式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33400" y="2095500"/>
            <a:ext cx="10668000" cy="895350"/>
          </a:xfrm>
          <a:prstGeom prst="roundRect">
            <a:avLst>
              <a:gd name="adj" fmla="val 0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2314575"/>
            <a:ext cx="238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微信连接与登录状态</a:t>
            </a:r>
            <a:endParaRPr sz="1500" b="1">
              <a:solidFill>
                <a:srgbClr val="10111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333750" y="2257425"/>
            <a:ext cx="36671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二维码生命周期、网络重置、重复消息</a:t>
            </a:r>
            <a:endParaRPr sz="1350" b="0">
              <a:solidFill>
                <a:srgbClr val="60656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39000" y="2257425"/>
            <a:ext cx="361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自动打开二维码、轮询重试、消息去重</a:t>
            </a:r>
            <a:endParaRPr sz="1350" b="0">
              <a:solidFill>
                <a:srgbClr val="14253D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33400" y="2981325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3209925"/>
            <a:ext cx="238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模型能力与平台波动</a:t>
            </a:r>
            <a:endParaRPr sz="1500" b="1">
              <a:solidFill>
                <a:srgbClr val="101114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333750" y="3152775"/>
            <a:ext cx="36671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文本/视觉/绘图接口不同，可能限流</a:t>
            </a:r>
            <a:endParaRPr sz="1350" b="0">
              <a:solidFill>
                <a:srgbClr val="60656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239000" y="3152775"/>
            <a:ext cx="361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分模型配置、备用模型、统一异常提示</a:t>
            </a:r>
            <a:endParaRPr sz="1350" b="0">
              <a:solidFill>
                <a:srgbClr val="14253D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3400" y="3876675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533400" y="3886200"/>
            <a:ext cx="10668000" cy="895350"/>
          </a:xfrm>
          <a:prstGeom prst="roundRect">
            <a:avLst>
              <a:gd name="adj" fmla="val 0"/>
            </a:avLst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4105275"/>
            <a:ext cx="238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语音与媒体格式</a:t>
            </a:r>
            <a:endParaRPr sz="1500" b="1">
              <a:solidFill>
                <a:srgbClr val="101114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333750" y="4048125"/>
            <a:ext cx="36671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SILK、PCM、WAV、MP3 与发送兼容</a:t>
            </a:r>
            <a:endParaRPr sz="1350" b="0">
              <a:solidFill>
                <a:srgbClr val="60656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239000" y="4048125"/>
            <a:ext cx="361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优先微信转写，本地转换，TTS 失败回退文字</a:t>
            </a:r>
            <a:endParaRPr sz="1350" b="0">
              <a:solidFill>
                <a:srgbClr val="14253D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33400" y="4772025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42950" y="5000625"/>
            <a:ext cx="238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00" b="1">
                <a:solidFill>
                  <a:srgbClr val="101114"/>
                </a:solidFill>
              </a:defRPr>
            </a:pPr>
            <a:r>
              <a:rPr sz="1500" b="1">
                <a:solidFill>
                  <a:srgbClr val="101114"/>
                </a:solidFill>
              </a:rPr>
              <a:t>多人分支整合</a:t>
            </a:r>
            <a:endParaRPr sz="1500" b="1">
              <a:solidFill>
                <a:srgbClr val="101114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333750" y="4943475"/>
            <a:ext cx="36671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60656F"/>
                </a:solidFill>
              </a:defRPr>
            </a:pPr>
            <a:r>
              <a:rPr sz="1350" b="0">
                <a:solidFill>
                  <a:srgbClr val="60656F"/>
                </a:solidFill>
              </a:rPr>
              <a:t>重复工具、接口不一致、配置泄露风险</a:t>
            </a:r>
            <a:endParaRPr sz="1350" b="0">
              <a:solidFill>
                <a:srgbClr val="60656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239000" y="4943475"/>
            <a:ext cx="361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350" b="0">
                <a:solidFill>
                  <a:srgbClr val="14253D"/>
                </a:solidFill>
              </a:defRPr>
            </a:pPr>
            <a:r>
              <a:rPr sz="1350" b="0">
                <a:solidFill>
                  <a:srgbClr val="14253D"/>
                </a:solidFill>
              </a:rPr>
              <a:t>统一注册表与接口，去重择优，本地配置 Git 忽略</a:t>
            </a:r>
            <a:endParaRPr sz="1350" b="0">
              <a:solidFill>
                <a:srgbClr val="14253D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3400" y="5667375"/>
            <a:ext cx="10668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533400" y="4953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最终结论</a:t>
            </a:r>
            <a:endParaRPr sz="1200" b="1">
              <a:solidFill>
                <a:srgbClr val="3D8D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428750"/>
            <a:ext cx="80962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4050" b="1">
                <a:solidFill>
                  <a:srgbClr val="101114"/>
                </a:solidFill>
              </a:defRPr>
            </a:pPr>
            <a:r>
              <a:rPr sz="4050" b="1">
                <a:solidFill>
                  <a:srgbClr val="101114"/>
                </a:solidFill>
              </a:rPr>
              <a:t>一句目标，</a:t>
            </a:r>
            <a:endParaRPr sz="4050" b="1">
              <a:solidFill>
                <a:srgbClr val="101114"/>
              </a:solidFill>
            </a:endParaRPr>
          </a:p>
          <a:p>
            <a:pPr algn="l">
              <a:defRPr sz="4050" b="1">
                <a:solidFill>
                  <a:srgbClr val="101114"/>
                </a:solidFill>
              </a:defRPr>
            </a:pPr>
            <a:r>
              <a:rPr sz="4050" b="1">
                <a:solidFill>
                  <a:srgbClr val="101114"/>
                </a:solidFill>
              </a:rPr>
              <a:t>Bot 可以交付完整结果</a:t>
            </a:r>
            <a:endParaRPr sz="4050" b="1">
              <a:solidFill>
                <a:srgbClr val="101114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3181350"/>
            <a:ext cx="2667000" cy="571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3638550"/>
            <a:ext cx="8953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2025" b="0">
                <a:solidFill>
                  <a:srgbClr val="14253D"/>
                </a:solidFill>
              </a:defRPr>
            </a:pPr>
            <a:r>
              <a:rPr sz="2025" b="0">
                <a:solidFill>
                  <a:srgbClr val="14253D"/>
                </a:solidFill>
              </a:rPr>
              <a:t>项目已经形成“可对话、可感知、可调用工具、可检索知识、可自主规划、可断点恢复”的完整系统。</a:t>
            </a:r>
            <a:endParaRPr sz="2025" b="0">
              <a:solidFill>
                <a:srgbClr val="14253D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495300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l">
              <a:defRPr sz="1500" b="0">
                <a:solidFill>
                  <a:srgbClr val="60656F"/>
                </a:solidFill>
              </a:defRPr>
            </a:pPr>
            <a:r>
              <a:rPr sz="1500" b="0">
                <a:solidFill>
                  <a:srgbClr val="60656F"/>
                </a:solidFill>
              </a:rPr>
              <a:t>下一步：向量 RAG · 更丰富的个人 Skill · 持久化用户画像 · 可观测性与性能评测</a:t>
            </a:r>
            <a:endParaRPr sz="1500" b="0">
              <a:solidFill>
                <a:srgbClr val="60656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810750" y="5715000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/>
          </a:bodyPr>
          <a:lstStyle/>
          <a:p>
            <a:pPr algn="r">
              <a:defRPr sz="2550" b="1">
                <a:solidFill>
                  <a:srgbClr val="25C78A"/>
                </a:solidFill>
              </a:defRPr>
            </a:pPr>
            <a:r>
              <a:rPr sz="2550" b="1">
                <a:solidFill>
                  <a:srgbClr val="25C78A"/>
                </a:solidFill>
              </a:rPr>
              <a:t>Q &amp; A</a:t>
            </a:r>
            <a:endParaRPr sz="2550" b="1">
              <a:solidFill>
                <a:srgbClr val="25C78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239500" y="6343650"/>
            <a:ext cx="419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>
            <a:normAutofit fontScale="73809"/>
          </a:bodyPr>
          <a:lstStyle/>
          <a:p>
            <a:pPr algn="r">
              <a:defRPr sz="1050" b="0">
                <a:solidFill>
                  <a:srgbClr val="60656F"/>
                </a:solidFill>
              </a:defRPr>
            </a:pPr>
            <a:r>
              <a:rPr sz="1050" b="0">
                <a:solidFill>
                  <a:srgbClr val="60656F"/>
                </a:solidFill>
              </a:rPr>
              <a:t>12</a:t>
            </a:r>
            <a:endParaRPr sz="1050" b="0">
              <a:solidFill>
                <a:srgbClr val="60656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2528</Words>
  <Application>WPS 演示</Application>
  <PresentationFormat>Converted Presentation</PresentationFormat>
  <Paragraphs>387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WPS_1729605668</cp:lastModifiedBy>
  <cp:revision>1</cp:revision>
  <dcterms:created xsi:type="dcterms:W3CDTF">2026-08-30T14:58:01Z</dcterms:created>
  <dcterms:modified xsi:type="dcterms:W3CDTF">2026-08-30T14:58:01Z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0440E8194FA144BFB5735CAE6DFAE02C_12</vt:lpwstr>
  </property>
</Properties>
</file>